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5" r:id="rId6"/>
    <p:sldId id="260" r:id="rId7"/>
    <p:sldId id="266" r:id="rId8"/>
    <p:sldId id="261" r:id="rId9"/>
    <p:sldId id="267" r:id="rId10"/>
    <p:sldId id="262" r:id="rId11"/>
    <p:sldId id="268" r:id="rId12"/>
    <p:sldId id="269" r:id="rId13"/>
    <p:sldId id="270" r:id="rId14"/>
    <p:sldId id="263" r:id="rId15"/>
    <p:sldId id="264" r:id="rId1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4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01FA09-D6A3-D4ED-7E66-3CD5403A21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6D39748-760C-7697-37CE-23BEBB8528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40864C2-6B40-8EE2-3FDA-BDE842BBE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D7300-7830-46A6-96C5-DCBFCCFDE704}" type="datetimeFigureOut">
              <a:rPr lang="ru-RU" smtClean="0"/>
              <a:t>08.10.2026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D47F2C9-50AF-42DC-E479-7B430156A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CD4E148-DE95-B32A-5DAD-6F5990CC7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E3343-2129-4211-8CB6-25B7C86199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78577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7D0082-C6CE-A2F1-C41D-03B6BA378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FD3B06E-FA98-82DE-758E-740FAB9EC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4FE626B-F495-686A-418A-4E8D64864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D7300-7830-46A6-96C5-DCBFCCFDE704}" type="datetimeFigureOut">
              <a:rPr lang="ru-RU" smtClean="0"/>
              <a:t>08.10.2026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228BD7B-9720-8F0F-A837-B7E54BC88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18FC3FD-1471-9C9E-7877-5123D377E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E3343-2129-4211-8CB6-25B7C86199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0479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C571E9-2A75-670B-8710-439181D098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30E18DC-CE98-0BDC-B596-4D9E1C9005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0651EFA-01C3-1F42-BB5D-B9D4ED630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D7300-7830-46A6-96C5-DCBFCCFDE704}" type="datetimeFigureOut">
              <a:rPr lang="ru-RU" smtClean="0"/>
              <a:t>08.10.2026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4BB9541-7392-1B8E-3DE6-C8CD59A6F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E9AA08C-2EB8-11AE-1F05-F7E174FD8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E3343-2129-4211-8CB6-25B7C86199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36246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CF156C-E85F-70AB-EF83-CDCA49C875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F6C4EAE-A5AB-3D89-6ED8-8415B05BE6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A468B6E-C163-20AE-8EC6-431C9C21FD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8079350-848D-2E2A-81D3-68CEEFE9B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D7300-7830-46A6-96C5-DCBFCCFDE704}" type="datetimeFigureOut">
              <a:rPr lang="ru-RU" smtClean="0"/>
              <a:t>08.10.2026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5EDF3FD-814C-4FAB-37C5-8E75A743E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D7DE28B-9E50-1A67-8976-64F1FBBD5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E3343-2129-4211-8CB6-25B7C86199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85334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EEE004-4BBE-4216-C37E-242A51059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D7B70DE-633B-D21B-A198-7C9D6EEC20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F78BE50-91B9-0AFF-F5B6-6DC4EE0410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BCFDD3B-F22A-0B15-14EB-CE8BD57F10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9669DC8-1A6E-B5BB-4E36-3C2F4962F9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5776E8A-1BC4-B420-223C-1FA68014C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D7300-7830-46A6-96C5-DCBFCCFDE704}" type="datetimeFigureOut">
              <a:rPr lang="ru-RU" smtClean="0"/>
              <a:t>08.10.2026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59B186D3-A5E0-73DB-9B71-AA2B5F96E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C646C2BA-6143-B14D-3B6B-9318EA1AB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E3343-2129-4211-8CB6-25B7C86199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22184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3A3693A-83F2-B3B5-00DA-232E2214B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D728369-8A9C-5F1D-C5BD-B2B95F900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D7300-7830-46A6-96C5-DCBFCCFDE704}" type="datetimeFigureOut">
              <a:rPr lang="ru-RU" smtClean="0"/>
              <a:t>08.10.2026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C0F220A-4030-A4D5-5A25-F100032CB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26C1002-81D0-5C12-02BD-E45F2EA85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E3343-2129-4211-8CB6-25B7C86199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8197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9106A44-6C1D-9100-98AC-41A43959C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D7300-7830-46A6-96C5-DCBFCCFDE704}" type="datetimeFigureOut">
              <a:rPr lang="ru-RU" smtClean="0"/>
              <a:t>08.10.2026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7D78242-983F-E62A-F32A-4F4AA4D4E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6884B14-44D7-6BC1-9FFA-0A0E6D17E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E3343-2129-4211-8CB6-25B7C86199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99004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FCD861-9D26-885D-6258-6CF249BBA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9757EB8-CEFA-7112-C93F-AF98C43ECD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8A5B5A1-8300-7460-70F0-9F4E731B6D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8F9274A-97CF-3F60-4290-099F5BE97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D7300-7830-46A6-96C5-DCBFCCFDE704}" type="datetimeFigureOut">
              <a:rPr lang="ru-RU" smtClean="0"/>
              <a:t>08.10.2026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81B83E6-C5CA-EFAE-EA19-7D0E44CBE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37D824C-4C3C-E9E4-55AF-8B58A4987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E3343-2129-4211-8CB6-25B7C86199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38368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E87293-4C75-5B38-F35E-FE79CAA71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0721B2F-1235-CC2B-37C7-ABB2AB1F21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2BB3CE7-76AA-8129-4A56-B4505323F7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69ECB5C-AC20-479A-B4B2-78904B91D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D7300-7830-46A6-96C5-DCBFCCFDE704}" type="datetimeFigureOut">
              <a:rPr lang="ru-RU" smtClean="0"/>
              <a:t>08.10.2026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85A7ADC-8905-1036-134C-57123077F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EB0BD5E-FD50-98B8-514C-4E38D6638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E3343-2129-4211-8CB6-25B7C86199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4621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A5D1A9-9E7D-4A2A-0FB6-13C342B8F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3985225-9713-5DAA-8DC4-7620295D9B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62622B0-52A1-4C25-2A62-A4280D0EF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D7300-7830-46A6-96C5-DCBFCCFDE704}" type="datetimeFigureOut">
              <a:rPr lang="ru-RU" smtClean="0"/>
              <a:t>08.10.2026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DEFE52F-5DFD-8684-AB27-310EE4148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3077119-0D60-DADE-D7E2-FAADCC772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E3343-2129-4211-8CB6-25B7C86199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9020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791872B4-56E3-D2B2-5EF5-C5C24E4547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88FDF95-ADF3-04F4-35A9-0C93A954A8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8E9DF90-B226-073D-3ADF-F71C8B8D6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D7300-7830-46A6-96C5-DCBFCCFDE704}" type="datetimeFigureOut">
              <a:rPr lang="ru-RU" smtClean="0"/>
              <a:t>08.10.2026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68D442F-E40D-6AD2-3CA7-78D7DC853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B478E0C-E359-320C-0495-5FF331446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E3343-2129-4211-8CB6-25B7C86199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1934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6623BF-9901-2FA3-D1E2-29B3EC557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1C3E017-7875-014F-5C16-2ACB44105B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506AA8A-57FE-6878-249A-243A740478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8D7300-7830-46A6-96C5-DCBFCCFDE704}" type="datetimeFigureOut">
              <a:rPr lang="ru-RU" smtClean="0"/>
              <a:t>08.10.2026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559BCEE-945F-3032-4A7A-C4448C6222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617BDDE-A1E0-EA56-E931-379F654901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7E3343-2129-4211-8CB6-25B7C86199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2945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tproger.ru/articles/chto-takoe-cookies--localstorage-i-sessionstorage" TargetMode="External"/><Relationship Id="rId2" Type="http://schemas.openxmlformats.org/officeDocument/2006/relationships/hyperlink" Target="https://learn.javascript.ru/localstorage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FB32B6-93E9-B2C6-5139-D37D93B658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68379" y="1427163"/>
            <a:ext cx="9144000" cy="2387600"/>
          </a:xfrm>
        </p:spPr>
        <p:txBody>
          <a:bodyPr/>
          <a:lstStyle/>
          <a:p>
            <a:r>
              <a:rPr lang="en-US" dirty="0" err="1"/>
              <a:t>localStorage</a:t>
            </a:r>
            <a:r>
              <a:rPr lang="ru-RU" dirty="0"/>
              <a:t> и</a:t>
            </a:r>
            <a:r>
              <a:rPr lang="en-US" dirty="0"/>
              <a:t> </a:t>
            </a:r>
            <a:r>
              <a:rPr lang="en-US" dirty="0" err="1"/>
              <a:t>sessionStorage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FEF6238-B416-37F3-800D-482B395E37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68379" y="3906838"/>
            <a:ext cx="9144000" cy="1655762"/>
          </a:xfrm>
        </p:spPr>
        <p:txBody>
          <a:bodyPr/>
          <a:lstStyle/>
          <a:p>
            <a:r>
              <a:rPr lang="ru-RU" dirty="0"/>
              <a:t>Бердиева Арина Б-11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34387F-AA55-84B4-72C6-42437AEDFC7D}"/>
              </a:ext>
            </a:extLst>
          </p:cNvPr>
          <p:cNvSpPr txBox="1"/>
          <p:nvPr/>
        </p:nvSpPr>
        <p:spPr>
          <a:xfrm>
            <a:off x="3192379" y="1674167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/>
              <a:t>07.11.26</a:t>
            </a:r>
          </a:p>
        </p:txBody>
      </p:sp>
    </p:spTree>
    <p:extLst>
      <p:ext uri="{BB962C8B-B14F-4D97-AF65-F5344CB8AC3E}">
        <p14:creationId xmlns:p14="http://schemas.microsoft.com/office/powerpoint/2010/main" val="1633275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5FD2B4F-7A9D-455B-8E38-78C6B8DC0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Введение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629D182-F8E5-C7FB-15D0-17902E806B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Работа современных сайтов и приложений неизбежно связана с сохранением данных на стороне клиента. Эти данные применяются в других частях веб-ресурсов или используются в следующих сессиях.</a:t>
            </a:r>
          </a:p>
          <a:p>
            <a:pPr marL="0" indent="0">
              <a:buNone/>
            </a:pPr>
            <a:r>
              <a:rPr lang="ru-RU" dirty="0"/>
              <a:t>Как это реализуется на практике? Есть несколько способов работы с информацией. Наиболее востребованные из них — это </a:t>
            </a:r>
            <a:r>
              <a:rPr lang="ru-RU" dirty="0" err="1"/>
              <a:t>cookies</a:t>
            </a:r>
            <a:r>
              <a:rPr lang="ru-RU" dirty="0"/>
              <a:t>, </a:t>
            </a:r>
            <a:r>
              <a:rPr lang="ru-RU" dirty="0" err="1"/>
              <a:t>localStorage</a:t>
            </a:r>
            <a:r>
              <a:rPr lang="ru-RU" dirty="0"/>
              <a:t> и </a:t>
            </a:r>
            <a:r>
              <a:rPr lang="ru-RU" dirty="0" err="1"/>
              <a:t>sessionStorage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995062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899F1D-EB81-40BA-4F08-DAAC53928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Cookies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D24C935-36C0-E063-B40A-082B16AFC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Файлы куки представляют собой элементарные пары типа «ключ-значение» и используются для:</a:t>
            </a:r>
          </a:p>
          <a:p>
            <a:pPr lvl="0"/>
            <a:r>
              <a:rPr lang="ru-RU" dirty="0"/>
              <a:t>управления текущими сессиями;</a:t>
            </a:r>
          </a:p>
          <a:p>
            <a:pPr lvl="0"/>
            <a:r>
              <a:rPr lang="ru-RU" dirty="0"/>
              <a:t>персонализации пользователя;</a:t>
            </a:r>
          </a:p>
          <a:p>
            <a:pPr lvl="0"/>
            <a:r>
              <a:rPr lang="ru-RU" dirty="0"/>
              <a:t>отслеживания его активности.  </a:t>
            </a:r>
          </a:p>
        </p:txBody>
      </p:sp>
    </p:spTree>
    <p:extLst>
      <p:ext uri="{BB962C8B-B14F-4D97-AF65-F5344CB8AC3E}">
        <p14:creationId xmlns:p14="http://schemas.microsoft.com/office/powerpoint/2010/main" val="36714700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E7AD23-07C6-DE57-7DC7-4A605D9F4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Объекты </a:t>
            </a:r>
            <a:r>
              <a:rPr lang="en-US" dirty="0" err="1"/>
              <a:t>localStorage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sessionStorage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8582A90-6D27-BD81-218B-32F632CE30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dirty="0"/>
              <a:t>позволяют хранить пары ключ/значение в браузере.</a:t>
            </a:r>
          </a:p>
          <a:p>
            <a:pPr marL="0" indent="0">
              <a:buNone/>
            </a:pPr>
            <a:r>
              <a:rPr lang="ru-RU" dirty="0"/>
              <a:t>Данные, которые в них записаны, сохраняются после обновления страницы (в случае </a:t>
            </a:r>
            <a:r>
              <a:rPr lang="ru-RU" dirty="0" err="1"/>
              <a:t>sessionStorage</a:t>
            </a:r>
            <a:r>
              <a:rPr lang="ru-RU" dirty="0"/>
              <a:t>) и даже после перезапуска браузера (при использовании </a:t>
            </a:r>
            <a:r>
              <a:rPr lang="ru-RU" dirty="0" err="1"/>
              <a:t>localStorage</a:t>
            </a:r>
            <a:r>
              <a:rPr lang="ru-RU" dirty="0"/>
              <a:t>).</a:t>
            </a:r>
          </a:p>
          <a:p>
            <a:pPr marL="0" indent="0">
              <a:buNone/>
            </a:pPr>
            <a:r>
              <a:rPr lang="ru-RU" dirty="0"/>
              <a:t>Объекты хранилища </a:t>
            </a:r>
            <a:r>
              <a:rPr lang="ru-RU" dirty="0" err="1"/>
              <a:t>localStorage</a:t>
            </a:r>
            <a:r>
              <a:rPr lang="ru-RU" dirty="0"/>
              <a:t> и </a:t>
            </a:r>
            <a:r>
              <a:rPr lang="ru-RU" dirty="0" err="1"/>
              <a:t>sessionStorage</a:t>
            </a:r>
            <a:r>
              <a:rPr lang="ru-RU" dirty="0"/>
              <a:t> предоставляют одинаковые методы и свойства:</a:t>
            </a:r>
          </a:p>
          <a:p>
            <a:pPr lvl="0"/>
            <a:r>
              <a:rPr lang="ru-RU" dirty="0" err="1"/>
              <a:t>setItem</a:t>
            </a:r>
            <a:r>
              <a:rPr lang="ru-RU" dirty="0"/>
              <a:t>(</a:t>
            </a:r>
            <a:r>
              <a:rPr lang="ru-RU" dirty="0" err="1"/>
              <a:t>key</a:t>
            </a:r>
            <a:r>
              <a:rPr lang="ru-RU" dirty="0"/>
              <a:t>, </a:t>
            </a:r>
            <a:r>
              <a:rPr lang="ru-RU" dirty="0" err="1"/>
              <a:t>value</a:t>
            </a:r>
            <a:r>
              <a:rPr lang="ru-RU" dirty="0"/>
              <a:t>) – сохранить пару ключ/значение.</a:t>
            </a:r>
          </a:p>
          <a:p>
            <a:pPr lvl="0"/>
            <a:r>
              <a:rPr lang="ru-RU" dirty="0" err="1"/>
              <a:t>getItem</a:t>
            </a:r>
            <a:r>
              <a:rPr lang="ru-RU" dirty="0"/>
              <a:t>(</a:t>
            </a:r>
            <a:r>
              <a:rPr lang="ru-RU" dirty="0" err="1"/>
              <a:t>key</a:t>
            </a:r>
            <a:r>
              <a:rPr lang="ru-RU" dirty="0"/>
              <a:t>) – получить данные по ключу </a:t>
            </a:r>
            <a:r>
              <a:rPr lang="ru-RU" dirty="0" err="1"/>
              <a:t>key</a:t>
            </a:r>
            <a:r>
              <a:rPr lang="ru-RU" dirty="0"/>
              <a:t>.</a:t>
            </a:r>
          </a:p>
          <a:p>
            <a:pPr lvl="0"/>
            <a:r>
              <a:rPr lang="ru-RU" dirty="0" err="1"/>
              <a:t>removeItem</a:t>
            </a:r>
            <a:r>
              <a:rPr lang="ru-RU" dirty="0"/>
              <a:t>(</a:t>
            </a:r>
            <a:r>
              <a:rPr lang="ru-RU" dirty="0" err="1"/>
              <a:t>key</a:t>
            </a:r>
            <a:r>
              <a:rPr lang="ru-RU" dirty="0"/>
              <a:t>) – удалить данные с ключом </a:t>
            </a:r>
            <a:r>
              <a:rPr lang="ru-RU" dirty="0" err="1"/>
              <a:t>key</a:t>
            </a:r>
            <a:r>
              <a:rPr lang="ru-RU" dirty="0"/>
              <a:t>.</a:t>
            </a:r>
          </a:p>
          <a:p>
            <a:pPr lvl="0"/>
            <a:r>
              <a:rPr lang="ru-RU" dirty="0" err="1"/>
              <a:t>clear</a:t>
            </a:r>
            <a:r>
              <a:rPr lang="ru-RU" dirty="0"/>
              <a:t>() – удалить все данные.</a:t>
            </a:r>
          </a:p>
          <a:p>
            <a:pPr lvl="0"/>
            <a:r>
              <a:rPr lang="ru-RU" dirty="0" err="1"/>
              <a:t>key</a:t>
            </a:r>
            <a:r>
              <a:rPr lang="ru-RU" dirty="0"/>
              <a:t>(</a:t>
            </a:r>
            <a:r>
              <a:rPr lang="ru-RU" dirty="0" err="1"/>
              <a:t>index</a:t>
            </a:r>
            <a:r>
              <a:rPr lang="ru-RU" dirty="0"/>
              <a:t>) – получить ключ на заданной позиции.</a:t>
            </a:r>
          </a:p>
          <a:p>
            <a:pPr lvl="0"/>
            <a:r>
              <a:rPr lang="ru-RU" dirty="0" err="1"/>
              <a:t>length</a:t>
            </a:r>
            <a:r>
              <a:rPr lang="ru-RU" dirty="0"/>
              <a:t> – количество элементов в хранилище.</a:t>
            </a:r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706015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DB1715F-70A1-E084-42AA-CD3A7F077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с </a:t>
            </a:r>
            <a:r>
              <a:rPr lang="en-US" dirty="0"/>
              <a:t>cookies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5ABD171-71D4-78D2-0F32-20D6D0144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lang="ru-RU" dirty="0"/>
              <a:t>В отличие от куки, объекты веб-хранилища не отправляются на сервер при каждом запросе. Именно поэтому мы можем хранить гораздо больше данных. Большинство современных браузеров могут выделить как минимум 5 мегабайтов данных (или больше), и этот размер можно поменять в настройках.</a:t>
            </a:r>
          </a:p>
          <a:p>
            <a:pPr marL="0" lvl="0" indent="0">
              <a:buNone/>
            </a:pPr>
            <a:r>
              <a:rPr lang="ru-RU" dirty="0"/>
              <a:t>Ещё одно отличие от куки – сервер не может манипулировать объектами хранилища через HTTP-заголовки. Всё делается при помощи JavaScript.</a:t>
            </a:r>
          </a:p>
          <a:p>
            <a:pPr marL="0" lvl="0" indent="0">
              <a:buNone/>
            </a:pPr>
            <a:r>
              <a:rPr lang="ru-RU" dirty="0"/>
              <a:t>Хранилище привязано к источнику (домен/протокол/порт). Это значит, что разные протоколы или поддомены определяют разные объекты хранилища, и они не могут получить доступ к данным друг друга.</a:t>
            </a:r>
          </a:p>
        </p:txBody>
      </p:sp>
    </p:spTree>
    <p:extLst>
      <p:ext uri="{BB962C8B-B14F-4D97-AF65-F5344CB8AC3E}">
        <p14:creationId xmlns:p14="http://schemas.microsoft.com/office/powerpoint/2010/main" val="610290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C36080-EA78-7CDB-782B-C2F59A104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localStorage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625AF74-C191-6E99-ED6D-EA3B08A72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dirty="0"/>
              <a:t>создали в качестве альтернативы </a:t>
            </a:r>
            <a:r>
              <a:rPr lang="en-US" dirty="0"/>
              <a:t>c</a:t>
            </a:r>
            <a:r>
              <a:rPr lang="ru-RU" dirty="0" err="1"/>
              <a:t>ookie</a:t>
            </a:r>
            <a:r>
              <a:rPr lang="en-US" dirty="0"/>
              <a:t>s</a:t>
            </a:r>
            <a:r>
              <a:rPr lang="ru-RU" dirty="0"/>
              <a:t>, чтобы обойти ограничения последних. А именно — небольшой объем хранилища, необходимость постоянно передавать данные с сервера в браузер и обратно.</a:t>
            </a:r>
          </a:p>
          <a:p>
            <a:pPr marL="0" indent="0">
              <a:buNone/>
            </a:pPr>
            <a:r>
              <a:rPr lang="ru-RU" dirty="0"/>
              <a:t>Например, если запустить этот код: </a:t>
            </a:r>
            <a:r>
              <a:rPr lang="ru-RU" dirty="0" err="1"/>
              <a:t>localStorage.setItem</a:t>
            </a:r>
            <a:r>
              <a:rPr lang="ru-RU" dirty="0"/>
              <a:t>('</a:t>
            </a:r>
            <a:r>
              <a:rPr lang="ru-RU" dirty="0" err="1"/>
              <a:t>test</a:t>
            </a:r>
            <a:r>
              <a:rPr lang="ru-RU" dirty="0"/>
              <a:t>', 1);</a:t>
            </a:r>
          </a:p>
          <a:p>
            <a:pPr marL="0" indent="0">
              <a:buNone/>
            </a:pPr>
            <a:r>
              <a:rPr lang="ru-RU" dirty="0"/>
              <a:t>И закрыть/открыть браузер или открыть ту же страницу в другом окне, то можно получить данные следующим образом: </a:t>
            </a:r>
            <a:r>
              <a:rPr lang="ru-RU" dirty="0" err="1"/>
              <a:t>alert</a:t>
            </a:r>
            <a:r>
              <a:rPr lang="ru-RU" dirty="0"/>
              <a:t>( </a:t>
            </a:r>
            <a:r>
              <a:rPr lang="ru-RU" dirty="0" err="1"/>
              <a:t>localStorage.getItem</a:t>
            </a:r>
            <a:r>
              <a:rPr lang="ru-RU" dirty="0"/>
              <a:t>('</a:t>
            </a:r>
            <a:r>
              <a:rPr lang="ru-RU" dirty="0" err="1"/>
              <a:t>test</a:t>
            </a:r>
            <a:r>
              <a:rPr lang="ru-RU" dirty="0"/>
              <a:t>') ); // 1</a:t>
            </a:r>
          </a:p>
          <a:p>
            <a:pPr marL="0" indent="0">
              <a:buNone/>
            </a:pPr>
            <a:r>
              <a:rPr lang="ru-RU" dirty="0"/>
              <a:t>В локальном хранилище, в отличие от сеансового, данные сохраняются после закрытия и повторного открытия страницы.</a:t>
            </a:r>
          </a:p>
          <a:p>
            <a:pPr marL="0" indent="0">
              <a:buNone/>
            </a:pPr>
            <a:r>
              <a:rPr lang="ru-RU" dirty="0"/>
              <a:t>Поскольку данные не исчезают даже после выключения компьютера, сайты на длительный срок сохраняют нужную им информацию — в первую очередь это предпочтения пользователя и его настройки.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544367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5F5273-2C05-C431-D04F-55D058788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кода</a:t>
            </a:r>
            <a:r>
              <a:rPr lang="en-US" dirty="0"/>
              <a:t>: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9329E46-9016-2122-1C7C-4AAA0B8B8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6867"/>
            <a:ext cx="10515600" cy="4351338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US" sz="7400" dirty="0"/>
              <a:t>// Storing data in local storage</a:t>
            </a:r>
            <a:endParaRPr lang="ru-RU" sz="7400" dirty="0"/>
          </a:p>
          <a:p>
            <a:pPr marL="0" indent="0">
              <a:buNone/>
            </a:pPr>
            <a:r>
              <a:rPr lang="en-US" sz="7400" dirty="0" err="1"/>
              <a:t>localStorage.setItem</a:t>
            </a:r>
            <a:r>
              <a:rPr lang="en-US" sz="7400" dirty="0"/>
              <a:t>("name", "Mathew");</a:t>
            </a:r>
            <a:endParaRPr lang="ru-RU" sz="7400" dirty="0"/>
          </a:p>
          <a:p>
            <a:pPr marL="0" indent="0">
              <a:buNone/>
            </a:pPr>
            <a:r>
              <a:rPr lang="en-US" sz="7400" dirty="0" err="1"/>
              <a:t>localStorage.setItem</a:t>
            </a:r>
            <a:r>
              <a:rPr lang="en-US" sz="7400" dirty="0"/>
              <a:t>("age", "33");</a:t>
            </a:r>
            <a:endParaRPr lang="ru-RU" sz="7400" dirty="0"/>
          </a:p>
          <a:p>
            <a:pPr marL="0" indent="0">
              <a:buNone/>
            </a:pPr>
            <a:r>
              <a:rPr lang="en-US" sz="7400" dirty="0"/>
              <a:t> </a:t>
            </a:r>
            <a:endParaRPr lang="ru-RU" sz="7400" dirty="0"/>
          </a:p>
          <a:p>
            <a:pPr marL="0" indent="0">
              <a:buNone/>
            </a:pPr>
            <a:r>
              <a:rPr lang="en-US" sz="7400" dirty="0"/>
              <a:t>// Retrieving data from local storage</a:t>
            </a:r>
            <a:endParaRPr lang="ru-RU" sz="7400" dirty="0"/>
          </a:p>
          <a:p>
            <a:pPr marL="0" indent="0">
              <a:buNone/>
            </a:pPr>
            <a:r>
              <a:rPr lang="en-US" sz="7400" dirty="0"/>
              <a:t>const name = </a:t>
            </a:r>
            <a:r>
              <a:rPr lang="en-US" sz="7400" dirty="0" err="1"/>
              <a:t>localStorage.getItem</a:t>
            </a:r>
            <a:r>
              <a:rPr lang="en-US" sz="7400" dirty="0"/>
              <a:t>("name");</a:t>
            </a:r>
            <a:endParaRPr lang="ru-RU" sz="7400" dirty="0"/>
          </a:p>
          <a:p>
            <a:pPr marL="0" indent="0">
              <a:buNone/>
            </a:pPr>
            <a:r>
              <a:rPr lang="en-US" sz="7400" dirty="0"/>
              <a:t>const age = </a:t>
            </a:r>
            <a:r>
              <a:rPr lang="en-US" sz="7400" dirty="0" err="1"/>
              <a:t>localStorage.getItem</a:t>
            </a:r>
            <a:r>
              <a:rPr lang="en-US" sz="7400" dirty="0"/>
              <a:t>("age");</a:t>
            </a:r>
            <a:endParaRPr lang="ru-RU" sz="7400" dirty="0"/>
          </a:p>
          <a:p>
            <a:pPr marL="0" indent="0">
              <a:buNone/>
            </a:pPr>
            <a:endParaRPr lang="ru-RU" sz="7400" dirty="0"/>
          </a:p>
          <a:p>
            <a:pPr marL="0" indent="0">
              <a:buNone/>
            </a:pPr>
            <a:r>
              <a:rPr lang="en-US" sz="7400" dirty="0"/>
              <a:t>console.log(name); // Output: Mathew</a:t>
            </a:r>
            <a:endParaRPr lang="ru-RU" sz="7400" dirty="0"/>
          </a:p>
          <a:p>
            <a:pPr marL="0" indent="0">
              <a:buNone/>
            </a:pPr>
            <a:r>
              <a:rPr lang="en-US" sz="7400" dirty="0"/>
              <a:t>console.log(age); // Output: 33</a:t>
            </a:r>
            <a:endParaRPr lang="ru-RU" sz="7400" dirty="0"/>
          </a:p>
          <a:p>
            <a:pPr marL="0" indent="0">
              <a:buNone/>
            </a:pPr>
            <a:r>
              <a:rPr lang="en-US" sz="7400" dirty="0"/>
              <a:t> </a:t>
            </a:r>
            <a:endParaRPr lang="ru-RU" sz="7400" dirty="0"/>
          </a:p>
          <a:p>
            <a:pPr marL="0" indent="0">
              <a:buNone/>
            </a:pPr>
            <a:r>
              <a:rPr lang="en-US" sz="7400" dirty="0"/>
              <a:t>// Removing data from local storage</a:t>
            </a:r>
            <a:endParaRPr lang="ru-RU" sz="7400" dirty="0"/>
          </a:p>
          <a:p>
            <a:pPr marL="0" indent="0">
              <a:buNone/>
            </a:pPr>
            <a:r>
              <a:rPr lang="en-US" sz="7400" dirty="0" err="1"/>
              <a:t>localStorage.removeItem</a:t>
            </a:r>
            <a:r>
              <a:rPr lang="en-US" sz="7400" dirty="0"/>
              <a:t>("age");</a:t>
            </a:r>
            <a:endParaRPr lang="ru-RU" sz="7400" dirty="0"/>
          </a:p>
          <a:p>
            <a:pPr marL="0" indent="0">
              <a:buNone/>
            </a:pPr>
            <a:r>
              <a:rPr lang="en-US" sz="7400" dirty="0"/>
              <a:t> </a:t>
            </a:r>
            <a:endParaRPr lang="ru-RU" sz="7400" dirty="0"/>
          </a:p>
          <a:p>
            <a:pPr marL="0" indent="0">
              <a:buNone/>
            </a:pPr>
            <a:r>
              <a:rPr lang="en-US" sz="7400" dirty="0"/>
              <a:t>// Clearing all data from local storage</a:t>
            </a:r>
            <a:endParaRPr lang="ru-RU" sz="7400" dirty="0"/>
          </a:p>
          <a:p>
            <a:pPr marL="0" indent="0">
              <a:buNone/>
            </a:pPr>
            <a:r>
              <a:rPr lang="ru-RU" sz="7400" dirty="0" err="1"/>
              <a:t>localStorage.clear</a:t>
            </a:r>
            <a:r>
              <a:rPr lang="ru-RU" sz="7400" dirty="0"/>
              <a:t>();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097838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F7105AD-B089-08D8-3BB3-87098F946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sessionStorage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EFAA306-FB7F-5E07-144B-7A348F551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dirty="0"/>
              <a:t>Способ работы с данными </a:t>
            </a:r>
            <a:r>
              <a:rPr lang="en-US" dirty="0" err="1"/>
              <a:t>sessionStorage</a:t>
            </a:r>
            <a:r>
              <a:rPr lang="ru-RU" dirty="0"/>
              <a:t> во многом аналогичен </a:t>
            </a:r>
            <a:r>
              <a:rPr lang="en-US" dirty="0" err="1"/>
              <a:t>localStorage</a:t>
            </a:r>
            <a:r>
              <a:rPr lang="ru-RU" dirty="0"/>
              <a:t>, но есть принципиальное отличие — после закрытия браузера данные полностью удаляются.</a:t>
            </a:r>
          </a:p>
          <a:p>
            <a:pPr marL="0" indent="0">
              <a:buNone/>
            </a:pPr>
            <a:r>
              <a:rPr lang="ru-RU" dirty="0"/>
              <a:t>идеален для хранения данных, актуальных в рамках конкретной сессии — например, информации при заполнении формы или вводе данных банковской карты.</a:t>
            </a:r>
          </a:p>
          <a:p>
            <a:pPr marL="0" indent="0">
              <a:buNone/>
            </a:pPr>
            <a:r>
              <a:rPr lang="ru-RU" dirty="0"/>
              <a:t>Например</a:t>
            </a:r>
            <a:r>
              <a:rPr lang="en-US" dirty="0"/>
              <a:t>, </a:t>
            </a:r>
            <a:r>
              <a:rPr lang="ru-RU" dirty="0"/>
              <a:t>запустим код</a:t>
            </a:r>
            <a:r>
              <a:rPr lang="en-US" dirty="0"/>
              <a:t>: </a:t>
            </a:r>
            <a:r>
              <a:rPr lang="en-US" dirty="0" err="1"/>
              <a:t>sessionStorage.setItem</a:t>
            </a:r>
            <a:r>
              <a:rPr lang="en-US" dirty="0"/>
              <a:t>('test', 1);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И обновим страницу</a:t>
            </a:r>
            <a:r>
              <a:rPr lang="en-US" dirty="0"/>
              <a:t>: alert( </a:t>
            </a:r>
            <a:r>
              <a:rPr lang="en-US" dirty="0" err="1"/>
              <a:t>sessionStorage.getItem</a:t>
            </a:r>
            <a:r>
              <a:rPr lang="en-US" dirty="0"/>
              <a:t>('test') ); // </a:t>
            </a:r>
            <a:r>
              <a:rPr lang="ru-RU" dirty="0"/>
              <a:t>после обновления</a:t>
            </a:r>
            <a:r>
              <a:rPr lang="en-US" dirty="0"/>
              <a:t>: 1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Мы все еще можем получить данные. </a:t>
            </a:r>
          </a:p>
          <a:p>
            <a:pPr marL="0" indent="0">
              <a:buNone/>
            </a:pPr>
            <a:r>
              <a:rPr lang="ru-RU" dirty="0"/>
              <a:t>Но если мы откроем ту же страницу в другой вкладке и попробуем получить данные снова, то код вернёт </a:t>
            </a:r>
            <a:r>
              <a:rPr lang="ru-RU" dirty="0" err="1"/>
              <a:t>null</a:t>
            </a:r>
            <a:r>
              <a:rPr lang="ru-RU" dirty="0"/>
              <a:t>, что значит «ничего не найдено».</a:t>
            </a:r>
          </a:p>
        </p:txBody>
      </p:sp>
    </p:spTree>
    <p:extLst>
      <p:ext uri="{BB962C8B-B14F-4D97-AF65-F5344CB8AC3E}">
        <p14:creationId xmlns:p14="http://schemas.microsoft.com/office/powerpoint/2010/main" val="572773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B73B8E-756D-FD7C-E09D-EA188DB27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кода: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D6D4A09-038F-238A-7982-F24CD6C98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ru-RU" dirty="0"/>
              <a:t>// </a:t>
            </a:r>
            <a:r>
              <a:rPr lang="en-US" dirty="0"/>
              <a:t>Storing data in session storage</a:t>
            </a:r>
            <a:endParaRPr lang="ru-RU" dirty="0"/>
          </a:p>
          <a:p>
            <a:pPr marL="0" indent="0">
              <a:buNone/>
            </a:pPr>
            <a:r>
              <a:rPr lang="en-US" dirty="0" err="1"/>
              <a:t>sessionStorage.setItem</a:t>
            </a:r>
            <a:r>
              <a:rPr lang="en-US" dirty="0"/>
              <a:t>("name", "Mathew");</a:t>
            </a:r>
            <a:endParaRPr lang="ru-RU" dirty="0"/>
          </a:p>
          <a:p>
            <a:pPr marL="0" indent="0">
              <a:buNone/>
            </a:pPr>
            <a:r>
              <a:rPr lang="en-US" dirty="0" err="1"/>
              <a:t>sessionStorage.setItem</a:t>
            </a:r>
            <a:r>
              <a:rPr lang="en-US" dirty="0"/>
              <a:t>("age", "33");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 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// Retrieving data from session storage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const name = </a:t>
            </a:r>
            <a:r>
              <a:rPr lang="en-US" dirty="0" err="1"/>
              <a:t>sessionStorage.getItem</a:t>
            </a:r>
            <a:r>
              <a:rPr lang="en-US" dirty="0"/>
              <a:t>("name");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const age = </a:t>
            </a:r>
            <a:r>
              <a:rPr lang="en-US" dirty="0" err="1"/>
              <a:t>sessionStorage.getItem</a:t>
            </a:r>
            <a:r>
              <a:rPr lang="en-US" dirty="0"/>
              <a:t>("age");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 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console.log(name); // Output: Mathew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console.log(age); // Output: 33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 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// Removing data from session storage</a:t>
            </a:r>
            <a:endParaRPr lang="ru-RU" dirty="0"/>
          </a:p>
          <a:p>
            <a:pPr marL="0" indent="0">
              <a:buNone/>
            </a:pPr>
            <a:r>
              <a:rPr lang="en-US" dirty="0" err="1"/>
              <a:t>sessionStorage.removeItem</a:t>
            </a:r>
            <a:r>
              <a:rPr lang="en-US" dirty="0"/>
              <a:t>("age");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 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// Clearing all data from session storage</a:t>
            </a:r>
            <a:endParaRPr lang="ru-RU" dirty="0"/>
          </a:p>
          <a:p>
            <a:pPr marL="0" indent="0">
              <a:buNone/>
            </a:pPr>
            <a:r>
              <a:rPr lang="en-US" dirty="0" err="1"/>
              <a:t>sessionStorage.clear</a:t>
            </a:r>
            <a:r>
              <a:rPr lang="en-US" dirty="0"/>
              <a:t>();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234181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6A3F48-AF75-ED2B-797D-28309311F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Событие </a:t>
            </a:r>
            <a:r>
              <a:rPr lang="en-US" dirty="0"/>
              <a:t>storage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2B9A2B-5701-1EE5-4A87-5652875CA7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 err="1"/>
              <a:t>Срабатывает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вызове</a:t>
            </a:r>
            <a:r>
              <a:rPr lang="en-US" dirty="0"/>
              <a:t> </a:t>
            </a:r>
            <a:r>
              <a:rPr lang="en-US" dirty="0" err="1"/>
              <a:t>setItem</a:t>
            </a:r>
            <a:r>
              <a:rPr lang="en-US" dirty="0"/>
              <a:t>, </a:t>
            </a:r>
            <a:r>
              <a:rPr lang="en-US" dirty="0" err="1"/>
              <a:t>removeItem</a:t>
            </a:r>
            <a:r>
              <a:rPr lang="en-US" dirty="0"/>
              <a:t>, clear.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Когда обновляются данные в </a:t>
            </a:r>
            <a:r>
              <a:rPr lang="ru-RU" dirty="0" err="1"/>
              <a:t>localStorage</a:t>
            </a:r>
            <a:r>
              <a:rPr lang="ru-RU" dirty="0"/>
              <a:t> или </a:t>
            </a:r>
            <a:r>
              <a:rPr lang="ru-RU" dirty="0" err="1"/>
              <a:t>sessionStorage</a:t>
            </a:r>
            <a:r>
              <a:rPr lang="ru-RU" dirty="0"/>
              <a:t>, генерируется событие </a:t>
            </a:r>
            <a:r>
              <a:rPr lang="ru-RU" dirty="0" err="1"/>
              <a:t>storage</a:t>
            </a:r>
            <a:r>
              <a:rPr lang="ru-RU" dirty="0"/>
              <a:t> со следующими свойствами:</a:t>
            </a:r>
          </a:p>
          <a:p>
            <a:pPr marL="0" lvl="0" indent="0">
              <a:buNone/>
            </a:pPr>
            <a:r>
              <a:rPr lang="ru-RU" dirty="0" err="1"/>
              <a:t>key</a:t>
            </a:r>
            <a:r>
              <a:rPr lang="ru-RU" dirty="0"/>
              <a:t> – ключ, который обновился (</a:t>
            </a:r>
            <a:r>
              <a:rPr lang="ru-RU" dirty="0" err="1"/>
              <a:t>null</a:t>
            </a:r>
            <a:r>
              <a:rPr lang="ru-RU" dirty="0"/>
              <a:t>, если вызван .</a:t>
            </a:r>
            <a:r>
              <a:rPr lang="ru-RU" dirty="0" err="1"/>
              <a:t>clear</a:t>
            </a:r>
            <a:r>
              <a:rPr lang="ru-RU" dirty="0"/>
              <a:t>()).</a:t>
            </a:r>
          </a:p>
          <a:p>
            <a:pPr marL="0" lvl="0" indent="0">
              <a:buNone/>
            </a:pPr>
            <a:r>
              <a:rPr lang="ru-RU" dirty="0" err="1"/>
              <a:t>oldValue</a:t>
            </a:r>
            <a:r>
              <a:rPr lang="ru-RU" dirty="0"/>
              <a:t> – старое значение (</a:t>
            </a:r>
            <a:r>
              <a:rPr lang="ru-RU" dirty="0" err="1"/>
              <a:t>null</a:t>
            </a:r>
            <a:r>
              <a:rPr lang="ru-RU" dirty="0"/>
              <a:t>, если ключ добавлен впервые).</a:t>
            </a:r>
          </a:p>
          <a:p>
            <a:pPr marL="0" lvl="0" indent="0">
              <a:buNone/>
            </a:pPr>
            <a:r>
              <a:rPr lang="ru-RU" dirty="0" err="1"/>
              <a:t>newValue</a:t>
            </a:r>
            <a:r>
              <a:rPr lang="ru-RU" dirty="0"/>
              <a:t> – новое значение (</a:t>
            </a:r>
            <a:r>
              <a:rPr lang="ru-RU" dirty="0" err="1"/>
              <a:t>null</a:t>
            </a:r>
            <a:r>
              <a:rPr lang="ru-RU" dirty="0"/>
              <a:t>, если ключ был удалён).</a:t>
            </a:r>
          </a:p>
          <a:p>
            <a:pPr marL="0" lvl="0" indent="0">
              <a:buNone/>
            </a:pPr>
            <a:r>
              <a:rPr lang="ru-RU" dirty="0" err="1"/>
              <a:t>url</a:t>
            </a:r>
            <a:r>
              <a:rPr lang="ru-RU" dirty="0"/>
              <a:t> – </a:t>
            </a:r>
            <a:r>
              <a:rPr lang="ru-RU" dirty="0" err="1"/>
              <a:t>url</a:t>
            </a:r>
            <a:r>
              <a:rPr lang="ru-RU" dirty="0"/>
              <a:t> документа, где произошло обновление.</a:t>
            </a:r>
          </a:p>
          <a:p>
            <a:pPr marL="0" lvl="0" indent="0">
              <a:buNone/>
            </a:pPr>
            <a:r>
              <a:rPr lang="ru-RU" dirty="0" err="1"/>
              <a:t>storageArea</a:t>
            </a:r>
            <a:r>
              <a:rPr lang="ru-RU" dirty="0"/>
              <a:t> – объект </a:t>
            </a:r>
            <a:r>
              <a:rPr lang="ru-RU" dirty="0" err="1"/>
              <a:t>localStorage</a:t>
            </a:r>
            <a:r>
              <a:rPr lang="ru-RU" dirty="0"/>
              <a:t> или </a:t>
            </a:r>
            <a:r>
              <a:rPr lang="ru-RU" dirty="0" err="1"/>
              <a:t>sessionStorage</a:t>
            </a:r>
            <a:r>
              <a:rPr lang="ru-RU" dirty="0"/>
              <a:t>, где произошло обновление.</a:t>
            </a:r>
          </a:p>
          <a:p>
            <a:pPr marL="0" indent="0">
              <a:buNone/>
            </a:pPr>
            <a:r>
              <a:rPr lang="ru-RU" dirty="0"/>
              <a:t>Событие </a:t>
            </a:r>
            <a:r>
              <a:rPr lang="en-US" dirty="0"/>
              <a:t>c</a:t>
            </a:r>
            <a:r>
              <a:rPr lang="ru-RU" dirty="0" err="1"/>
              <a:t>рабатывает</a:t>
            </a:r>
            <a:r>
              <a:rPr lang="ru-RU" dirty="0"/>
              <a:t> на всех объектах </a:t>
            </a:r>
            <a:r>
              <a:rPr lang="ru-RU" dirty="0" err="1"/>
              <a:t>window</a:t>
            </a:r>
            <a:r>
              <a:rPr lang="ru-RU" dirty="0"/>
              <a:t>, которые имеют доступ к хранилищу, кроме того, где оно было сгенерировано.</a:t>
            </a:r>
          </a:p>
        </p:txBody>
      </p:sp>
    </p:spTree>
    <p:extLst>
      <p:ext uri="{BB962C8B-B14F-4D97-AF65-F5344CB8AC3E}">
        <p14:creationId xmlns:p14="http://schemas.microsoft.com/office/powerpoint/2010/main" val="4542774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7F00AB9-CA4A-8642-D9C9-1222BC896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кода: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DEF42C5-55B5-1661-B88F-0F1F8BFD5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ru-RU" dirty="0"/>
              <a:t>Допустим, есть два окна с одним и тем же сайтом. Хранилище </a:t>
            </a:r>
            <a:r>
              <a:rPr lang="ru-RU" dirty="0" err="1"/>
              <a:t>localStorage</a:t>
            </a:r>
            <a:r>
              <a:rPr lang="ru-RU" dirty="0"/>
              <a:t> разделяется между ними.</a:t>
            </a:r>
          </a:p>
          <a:p>
            <a:pPr marL="0" indent="0">
              <a:buNone/>
            </a:pPr>
            <a:r>
              <a:rPr lang="ru-RU" dirty="0"/>
              <a:t>// срабатывает при обновлениях, сделанных в том же хранилище из других документов</a:t>
            </a:r>
          </a:p>
          <a:p>
            <a:pPr marL="0" indent="0">
              <a:buNone/>
            </a:pPr>
            <a:r>
              <a:rPr lang="en-US" dirty="0" err="1"/>
              <a:t>window.onstorage</a:t>
            </a:r>
            <a:r>
              <a:rPr lang="en-US" dirty="0"/>
              <a:t> = event =&gt; { // </a:t>
            </a:r>
            <a:r>
              <a:rPr lang="ru-RU" dirty="0"/>
              <a:t>можно также использовать</a:t>
            </a:r>
            <a:r>
              <a:rPr lang="en-US" dirty="0"/>
              <a:t> </a:t>
            </a:r>
            <a:r>
              <a:rPr lang="en-US" dirty="0" err="1"/>
              <a:t>window.addEventListener</a:t>
            </a:r>
            <a:r>
              <a:rPr lang="en-US" dirty="0"/>
              <a:t>('storage', event =&gt; {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  if (</a:t>
            </a:r>
            <a:r>
              <a:rPr lang="en-US" dirty="0" err="1"/>
              <a:t>event.key</a:t>
            </a:r>
            <a:r>
              <a:rPr lang="en-US" dirty="0"/>
              <a:t> != 'now') return;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  alert(</a:t>
            </a:r>
            <a:r>
              <a:rPr lang="en-US" dirty="0" err="1"/>
              <a:t>event.key</a:t>
            </a:r>
            <a:r>
              <a:rPr lang="en-US" dirty="0"/>
              <a:t> + ':' + </a:t>
            </a:r>
            <a:r>
              <a:rPr lang="en-US" dirty="0" err="1"/>
              <a:t>event.newValue</a:t>
            </a:r>
            <a:r>
              <a:rPr lang="en-US" dirty="0"/>
              <a:t> + " at " + event.url);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};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 </a:t>
            </a:r>
            <a:endParaRPr lang="ru-RU" dirty="0"/>
          </a:p>
          <a:p>
            <a:pPr marL="0" indent="0">
              <a:buNone/>
            </a:pPr>
            <a:r>
              <a:rPr lang="en-US" dirty="0" err="1"/>
              <a:t>localStorage.setItem</a:t>
            </a:r>
            <a:r>
              <a:rPr lang="en-US" dirty="0"/>
              <a:t>('now', </a:t>
            </a:r>
            <a:r>
              <a:rPr lang="en-US" dirty="0" err="1"/>
              <a:t>Date.now</a:t>
            </a:r>
            <a:r>
              <a:rPr lang="en-US" dirty="0"/>
              <a:t>());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 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Теперь, если оба окна слушают </a:t>
            </a:r>
            <a:r>
              <a:rPr lang="ru-RU" dirty="0" err="1"/>
              <a:t>window.onstorage</a:t>
            </a:r>
            <a:r>
              <a:rPr lang="ru-RU" dirty="0"/>
              <a:t>, то каждое из них будет реагировать на обновления, произошедшие в другом окне.</a:t>
            </a:r>
          </a:p>
        </p:txBody>
      </p:sp>
    </p:spTree>
    <p:extLst>
      <p:ext uri="{BB962C8B-B14F-4D97-AF65-F5344CB8AC3E}">
        <p14:creationId xmlns:p14="http://schemas.microsoft.com/office/powerpoint/2010/main" val="32891707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C55992-8DEA-4BA6-0F04-C3723D260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Безопасность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9A8E5F3-FC46-D7BA-E8F1-DB4D702105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Все хранилища потенциально уязвимы для XSS-атак</a:t>
            </a:r>
          </a:p>
          <a:p>
            <a:r>
              <a:rPr lang="ru-RU" dirty="0"/>
              <a:t>В </a:t>
            </a:r>
            <a:r>
              <a:rPr lang="ru-RU" dirty="0" err="1"/>
              <a:t>localStorage</a:t>
            </a:r>
            <a:r>
              <a:rPr lang="ru-RU" dirty="0"/>
              <a:t> для обеспечения безопасности важно соблюдать принцип одного источника и тоже пользоваться зашифрованными HTTPS-соединениями.</a:t>
            </a:r>
          </a:p>
        </p:txBody>
      </p:sp>
    </p:spTree>
    <p:extLst>
      <p:ext uri="{BB962C8B-B14F-4D97-AF65-F5344CB8AC3E}">
        <p14:creationId xmlns:p14="http://schemas.microsoft.com/office/powerpoint/2010/main" val="11433658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4DEE79-1DDC-5B47-5724-FFD6944E6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B4665D6-38B9-F61E-0A50-4B5F6CCB2F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После появления пятой версии HTML (2017 г.) </a:t>
            </a:r>
            <a:r>
              <a:rPr lang="ru-RU" dirty="0" err="1"/>
              <a:t>localStorage</a:t>
            </a:r>
            <a:r>
              <a:rPr lang="ru-RU" dirty="0"/>
              <a:t> становится более востребованным элементом при разработке веб-приложений.</a:t>
            </a:r>
          </a:p>
          <a:p>
            <a:r>
              <a:rPr lang="ru-RU" dirty="0"/>
              <a:t>При этом инструмент поддерживает синхронизацию данных, когда пользователь открывает приложение в разных вкладках (например, через событие </a:t>
            </a:r>
            <a:r>
              <a:rPr lang="en-US" dirty="0"/>
              <a:t>storage</a:t>
            </a:r>
            <a:r>
              <a:rPr lang="ru-RU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665264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0A0DCF-70B5-93CB-280A-9D35345CE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Практическая часть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F9AF366-FEB0-E8C3-79EC-C8C64A20EB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На локальной </a:t>
            </a:r>
            <a:r>
              <a:rPr lang="en-US" dirty="0"/>
              <a:t>HTML</a:t>
            </a:r>
            <a:r>
              <a:rPr lang="ru-RU" dirty="0"/>
              <a:t>-странице сохранить настройку или имя пользователя, перезагрузить страницу и сравнить поведение </a:t>
            </a:r>
            <a:r>
              <a:rPr lang="en-US" dirty="0" err="1"/>
              <a:t>localStorage</a:t>
            </a:r>
            <a:r>
              <a:rPr lang="ru-RU" dirty="0"/>
              <a:t> и </a:t>
            </a:r>
            <a:r>
              <a:rPr lang="en-US" dirty="0" err="1"/>
              <a:t>sessionStorage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dirty="0"/>
              <a:t>Результат: при перезагрузки страницы, мы можем получить данные из обоих хранилищ; при перезагрузки браузера, мы данные сохраняются только в </a:t>
            </a:r>
            <a:r>
              <a:rPr lang="en-US" dirty="0" err="1"/>
              <a:t>localStorage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236746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09A415-DAED-7670-CA06-7CF0A928F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использованных ресурсов: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0E1AF85-0468-792B-D008-E310FFC147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lvl="0" indent="-514350">
              <a:buFont typeface="+mj-lt"/>
              <a:buAutoNum type="arabicPeriod"/>
            </a:pPr>
            <a:r>
              <a:rPr lang="en-US" u="sng" dirty="0">
                <a:hlinkClick r:id="rId2"/>
              </a:rPr>
              <a:t>https</a:t>
            </a:r>
            <a:r>
              <a:rPr lang="ru-RU" u="sng" dirty="0">
                <a:hlinkClick r:id="rId2"/>
              </a:rPr>
              <a:t>://</a:t>
            </a:r>
            <a:r>
              <a:rPr lang="en-US" u="sng" dirty="0">
                <a:hlinkClick r:id="rId2"/>
              </a:rPr>
              <a:t>learn</a:t>
            </a:r>
            <a:r>
              <a:rPr lang="ru-RU" u="sng" dirty="0">
                <a:hlinkClick r:id="rId2"/>
              </a:rPr>
              <a:t>.</a:t>
            </a:r>
            <a:r>
              <a:rPr lang="en-US" u="sng" dirty="0" err="1">
                <a:hlinkClick r:id="rId2"/>
              </a:rPr>
              <a:t>javascript</a:t>
            </a:r>
            <a:r>
              <a:rPr lang="ru-RU" u="sng" dirty="0">
                <a:hlinkClick r:id="rId2"/>
              </a:rPr>
              <a:t>.</a:t>
            </a:r>
            <a:r>
              <a:rPr lang="en-US" u="sng" dirty="0" err="1">
                <a:hlinkClick r:id="rId2"/>
              </a:rPr>
              <a:t>ru</a:t>
            </a:r>
            <a:r>
              <a:rPr lang="ru-RU" u="sng" dirty="0">
                <a:hlinkClick r:id="rId2"/>
              </a:rPr>
              <a:t>/</a:t>
            </a:r>
            <a:r>
              <a:rPr lang="en-US" u="sng" dirty="0" err="1">
                <a:hlinkClick r:id="rId2"/>
              </a:rPr>
              <a:t>localstorage</a:t>
            </a:r>
            <a:endParaRPr lang="ru-RU" dirty="0"/>
          </a:p>
          <a:p>
            <a:pPr marL="514350" lvl="0" indent="-514350">
              <a:buFont typeface="+mj-lt"/>
              <a:buAutoNum type="arabicPeriod"/>
            </a:pPr>
            <a:r>
              <a:rPr lang="en-US" u="sng" dirty="0">
                <a:hlinkClick r:id="rId3"/>
              </a:rPr>
              <a:t>https</a:t>
            </a:r>
            <a:r>
              <a:rPr lang="ru-RU" u="sng" dirty="0">
                <a:hlinkClick r:id="rId3"/>
              </a:rPr>
              <a:t>://</a:t>
            </a:r>
            <a:r>
              <a:rPr lang="en-US" u="sng" dirty="0" err="1">
                <a:hlinkClick r:id="rId3"/>
              </a:rPr>
              <a:t>tproger</a:t>
            </a:r>
            <a:r>
              <a:rPr lang="ru-RU" u="sng" dirty="0">
                <a:hlinkClick r:id="rId3"/>
              </a:rPr>
              <a:t>.</a:t>
            </a:r>
            <a:r>
              <a:rPr lang="en-US" u="sng" dirty="0" err="1">
                <a:hlinkClick r:id="rId3"/>
              </a:rPr>
              <a:t>ru</a:t>
            </a:r>
            <a:r>
              <a:rPr lang="ru-RU" u="sng" dirty="0">
                <a:hlinkClick r:id="rId3"/>
              </a:rPr>
              <a:t>/</a:t>
            </a:r>
            <a:r>
              <a:rPr lang="en-US" u="sng" dirty="0">
                <a:hlinkClick r:id="rId3"/>
              </a:rPr>
              <a:t>articles</a:t>
            </a:r>
            <a:r>
              <a:rPr lang="ru-RU" u="sng" dirty="0">
                <a:hlinkClick r:id="rId3"/>
              </a:rPr>
              <a:t>/</a:t>
            </a:r>
            <a:r>
              <a:rPr lang="en-US" u="sng" dirty="0" err="1">
                <a:hlinkClick r:id="rId3"/>
              </a:rPr>
              <a:t>chto</a:t>
            </a:r>
            <a:r>
              <a:rPr lang="ru-RU" u="sng" dirty="0">
                <a:hlinkClick r:id="rId3"/>
              </a:rPr>
              <a:t>-</a:t>
            </a:r>
            <a:r>
              <a:rPr lang="en-US" u="sng" dirty="0" err="1">
                <a:hlinkClick r:id="rId3"/>
              </a:rPr>
              <a:t>takoe</a:t>
            </a:r>
            <a:r>
              <a:rPr lang="ru-RU" u="sng" dirty="0">
                <a:hlinkClick r:id="rId3"/>
              </a:rPr>
              <a:t>-</a:t>
            </a:r>
            <a:r>
              <a:rPr lang="en-US" u="sng" dirty="0">
                <a:hlinkClick r:id="rId3"/>
              </a:rPr>
              <a:t>cookies</a:t>
            </a:r>
            <a:r>
              <a:rPr lang="ru-RU" u="sng" dirty="0">
                <a:hlinkClick r:id="rId3"/>
              </a:rPr>
              <a:t>--</a:t>
            </a:r>
            <a:r>
              <a:rPr lang="en-US" u="sng" dirty="0" err="1">
                <a:hlinkClick r:id="rId3"/>
              </a:rPr>
              <a:t>localstorage</a:t>
            </a:r>
            <a:r>
              <a:rPr lang="ru-RU" u="sng" dirty="0">
                <a:hlinkClick r:id="rId3"/>
              </a:rPr>
              <a:t>-</a:t>
            </a:r>
            <a:r>
              <a:rPr lang="en-US" u="sng" dirty="0" err="1">
                <a:hlinkClick r:id="rId3"/>
              </a:rPr>
              <a:t>i</a:t>
            </a:r>
            <a:r>
              <a:rPr lang="ru-RU" u="sng" dirty="0">
                <a:hlinkClick r:id="rId3"/>
              </a:rPr>
              <a:t>-</a:t>
            </a:r>
            <a:r>
              <a:rPr lang="en-US" u="sng" dirty="0" err="1">
                <a:hlinkClick r:id="rId3"/>
              </a:rPr>
              <a:t>sessionstorage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7946626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1105</Words>
  <Application>Microsoft Office PowerPoint</Application>
  <PresentationFormat>Широкоэкранный</PresentationFormat>
  <Paragraphs>104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Тема Office</vt:lpstr>
      <vt:lpstr>localStorage и sessionStorage</vt:lpstr>
      <vt:lpstr>Введение</vt:lpstr>
      <vt:lpstr>Cookies</vt:lpstr>
      <vt:lpstr>Объекты localStorage и sessionStorage</vt:lpstr>
      <vt:lpstr>Сравнение с cookies</vt:lpstr>
      <vt:lpstr>localStorage</vt:lpstr>
      <vt:lpstr>Пример кода:</vt:lpstr>
      <vt:lpstr>sessionStorage</vt:lpstr>
      <vt:lpstr>Пример кода: </vt:lpstr>
      <vt:lpstr>Событие storage</vt:lpstr>
      <vt:lpstr>Пример кода:</vt:lpstr>
      <vt:lpstr>Безопасность</vt:lpstr>
      <vt:lpstr>Итог</vt:lpstr>
      <vt:lpstr>Практическая часть</vt:lpstr>
      <vt:lpstr>Список использованных ресурсов: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Arina Berdieva</dc:creator>
  <cp:lastModifiedBy>Arina Berdieva</cp:lastModifiedBy>
  <cp:revision>6</cp:revision>
  <dcterms:created xsi:type="dcterms:W3CDTF">2026-09-28T11:12:43Z</dcterms:created>
  <dcterms:modified xsi:type="dcterms:W3CDTF">2026-10-08T10:34:17Z</dcterms:modified>
</cp:coreProperties>
</file>