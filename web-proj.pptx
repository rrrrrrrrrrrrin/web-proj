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67" r:id="rId10"/>
    <p:sldId id="262" r:id="rId11"/>
    <p:sldId id="268" r:id="rId12"/>
    <p:sldId id="269" r:id="rId13"/>
    <p:sldId id="270" r:id="rId14"/>
    <p:sldId id="263" r:id="rId15"/>
    <p:sldId id="26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CEF9"/>
    <a:srgbClr val="FFDDEE"/>
    <a:srgbClr val="FFEBF5"/>
    <a:srgbClr val="FDB7DD"/>
    <a:srgbClr val="DFE9F7"/>
    <a:srgbClr val="FFFFFF"/>
    <a:srgbClr val="FFE5F8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1FA09-D6A3-D4ED-7E66-3CD5403A2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D39748-760C-7697-37CE-23BEBB85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864C2-6B40-8EE2-3FDA-BDE842BB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47F2C9-50AF-42DC-E479-7B430156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4E148-DE95-B32A-5DAD-6F5990CC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85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D0082-C6CE-A2F1-C41D-03B6BA37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D3B06E-FA98-82DE-758E-740FAB9EC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FE626B-F495-686A-418A-4E8D6486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28BD7B-9720-8F0F-A837-B7E54BC8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8FC3FD-1471-9C9E-7877-5123D377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47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571E9-2A75-670B-8710-439181D0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0E18DC-CE98-0BDC-B596-4D9E1C900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51EFA-01C3-1F42-BB5D-B9D4ED63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B9541-7392-1B8E-3DE6-C8CD59A6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AA08C-2EB8-11AE-1F05-F7E174FD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62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F156C-E85F-70AB-EF83-CDCA49C8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6C4EAE-A5AB-3D89-6ED8-8415B05BE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468B6E-C163-20AE-8EC6-431C9C21F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079350-848D-2E2A-81D3-68CEEFE9B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EDF3FD-814C-4FAB-37C5-8E75A743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7DE28B-9E50-1A67-8976-64F1FBBD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53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EE004-4BBE-4216-C37E-242A5105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7B70DE-633B-D21B-A198-7C9D6EEC2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78BE50-91B9-0AFF-F5B6-6DC4EE041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CFDD3B-F22A-0B15-14EB-CE8BD57F1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669DC8-1A6E-B5BB-4E36-3C2F4962F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776E8A-1BC4-B420-223C-1FA68014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B186D3-A5E0-73DB-9B71-AA2B5F96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46C2BA-6143-B14D-3B6B-9318EA1A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21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3693A-83F2-B3B5-00DA-232E2214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728369-8A9C-5F1D-C5BD-B2B95F90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C0F220A-4030-A4D5-5A25-F100032C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6C1002-81D0-5C12-02BD-E45F2EA8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9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106A44-6C1D-9100-98AC-41A4395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D78242-983F-E62A-F32A-4F4AA4D4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884B14-44D7-6BC1-9FFA-0A0E6D17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90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CD861-9D26-885D-6258-6CF249BB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757EB8-CEFA-7112-C93F-AF98C43EC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A5B5A1-8300-7460-70F0-9F4E731B6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F9274A-97CF-3F60-4290-099F5BE9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1B83E6-C5CA-EFAE-EA19-7D0E44CB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7D824C-4C3C-E9E4-55AF-8B58A498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83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87293-4C75-5B38-F35E-FE79CAA7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21B2F-1235-CC2B-37C7-ABB2AB1F2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BB3CE7-76AA-8129-4A56-B4505323F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9ECB5C-AC20-479A-B4B2-78904B91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5A7ADC-8905-1036-134C-57123077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B0BD5E-FD50-98B8-514C-4E38D663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62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5D1A9-9E7D-4A2A-0FB6-13C342B8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985225-9713-5DAA-8DC4-7620295D9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622B0-52A1-4C25-2A62-A4280D0E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EFE52F-5DFD-8684-AB27-310EE414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077119-0D60-DADE-D7E2-FAADCC77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020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1872B4-56E3-D2B2-5EF5-C5C24E454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8FDF95-ADF3-04F4-35A9-0C93A954A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E9DF90-B226-073D-3ADF-F71C8B8D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D442F-E40D-6AD2-3CA7-78D7DC853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478E0C-E359-320C-0495-5FF33144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93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85000">
              <a:srgbClr val="00B0F0">
                <a:lumMod val="94000"/>
                <a:lumOff val="6000"/>
                <a:alpha val="25000"/>
              </a:srgbClr>
            </a:gs>
            <a:gs pos="100000">
              <a:srgbClr val="00B0F0">
                <a:alpha val="65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623BF-9901-2FA3-D1E2-29B3EC55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C3E017-7875-014F-5C16-2ACB44105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06AA8A-57FE-6878-249A-243A74047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D7300-7830-46A6-96C5-DCBFCCFDE704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59BCEE-945F-3032-4A7A-C4448C622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17BDDE-A1E0-EA56-E931-379F65490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E3343-2129-4211-8CB6-25B7C86199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4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proger.ru/articles/chto-takoe-cookies--localstorage-i-sessionstorage" TargetMode="External"/><Relationship Id="rId2" Type="http://schemas.openxmlformats.org/officeDocument/2006/relationships/hyperlink" Target="https://learn.javascript.ru/localstorag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B32B6-93E9-B2C6-5139-D37D93B65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8379" y="1427163"/>
            <a:ext cx="9144000" cy="2387600"/>
          </a:xfrm>
        </p:spPr>
        <p:txBody>
          <a:bodyPr/>
          <a:lstStyle/>
          <a:p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localStorage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 и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sessionStorage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EF6238-B416-37F3-800D-482B395E3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8379" y="3906838"/>
            <a:ext cx="9144000" cy="1655762"/>
          </a:xfrm>
        </p:spPr>
        <p:txBody>
          <a:bodyPr/>
          <a:lstStyle/>
          <a:p>
            <a:r>
              <a:rPr lang="ru-RU" dirty="0"/>
              <a:t>Бердиева Арина Б-11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34387F-AA55-84B4-72C6-42437AEDFC7D}"/>
              </a:ext>
            </a:extLst>
          </p:cNvPr>
          <p:cNvSpPr txBox="1"/>
          <p:nvPr/>
        </p:nvSpPr>
        <p:spPr>
          <a:xfrm>
            <a:off x="3192379" y="16741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07.11.26</a:t>
            </a:r>
          </a:p>
        </p:txBody>
      </p:sp>
    </p:spTree>
    <p:extLst>
      <p:ext uri="{BB962C8B-B14F-4D97-AF65-F5344CB8AC3E}">
        <p14:creationId xmlns:p14="http://schemas.microsoft.com/office/powerpoint/2010/main" val="163327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FD2B4F-7A9D-455B-8E38-78C6B8DC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29D182-F8E5-C7FB-15D0-17902E80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Работа современных сайтов и приложений неизбежно связана с сохранением данных на стороне клиента. Эти данные применяются в других частях веб-ресурсов или используются в следующих сессиях.</a:t>
            </a:r>
          </a:p>
          <a:p>
            <a:pPr marL="0" indent="0">
              <a:buNone/>
            </a:pPr>
            <a:r>
              <a:rPr lang="ru-RU" dirty="0"/>
              <a:t>Как это реализуется на практике? Есть несколько способов работы с информацией. Наиболее востребованные из них — это </a:t>
            </a:r>
            <a:r>
              <a:rPr lang="ru-RU" dirty="0" err="1"/>
              <a:t>cookies</a:t>
            </a:r>
            <a:r>
              <a:rPr lang="ru-RU" dirty="0"/>
              <a:t>, </a:t>
            </a:r>
            <a:r>
              <a:rPr lang="ru-RU" dirty="0" err="1"/>
              <a:t>localStorage</a:t>
            </a:r>
            <a:r>
              <a:rPr lang="ru-RU" dirty="0"/>
              <a:t> и </a:t>
            </a:r>
            <a:r>
              <a:rPr lang="ru-RU" dirty="0" err="1"/>
              <a:t>sessionStorage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50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99F1D-EB81-40BA-4F08-DAAC5392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Cookies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24C935-36C0-E063-B40A-082B16AFC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Файлы куки представляют собой элементарные пары типа «ключ-значение» и используются для:</a:t>
            </a:r>
          </a:p>
          <a:p>
            <a:pPr lvl="0"/>
            <a:r>
              <a:rPr lang="ru-RU" dirty="0"/>
              <a:t>управления текущими сессиями;</a:t>
            </a:r>
          </a:p>
          <a:p>
            <a:pPr lvl="0"/>
            <a:r>
              <a:rPr lang="ru-RU" dirty="0"/>
              <a:t>персонализации пользователя;</a:t>
            </a:r>
          </a:p>
          <a:p>
            <a:pPr lvl="0"/>
            <a:r>
              <a:rPr lang="ru-RU" dirty="0"/>
              <a:t>отслеживания его активности.  </a:t>
            </a:r>
          </a:p>
        </p:txBody>
      </p:sp>
    </p:spTree>
    <p:extLst>
      <p:ext uri="{BB962C8B-B14F-4D97-AF65-F5344CB8AC3E}">
        <p14:creationId xmlns:p14="http://schemas.microsoft.com/office/powerpoint/2010/main" val="367147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E7AD23-07C6-DE57-7DC7-4A605D9F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2492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Объекты </a:t>
            </a:r>
            <a:r>
              <a:rPr lang="en-US" b="1" dirty="0" err="1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localStorage</a:t>
            </a:r>
            <a:r>
              <a:rPr lang="en-US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</a:t>
            </a:r>
            <a:r>
              <a:rPr lang="en-US" b="1" dirty="0" err="1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sessionStorage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582A90-6D27-BD81-218B-32F632CE3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850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Данные, которые в них записаны, сохраняются после обновления страницы (</a:t>
            </a:r>
            <a:r>
              <a:rPr lang="ru-RU" dirty="0" err="1"/>
              <a:t>sessionStorage</a:t>
            </a:r>
            <a:r>
              <a:rPr lang="ru-RU" dirty="0"/>
              <a:t>) и после перезапуска браузера (</a:t>
            </a:r>
            <a:r>
              <a:rPr lang="ru-RU" dirty="0" err="1"/>
              <a:t>localStorage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Объекты хранилища </a:t>
            </a:r>
            <a:r>
              <a:rPr lang="ru-RU" dirty="0" err="1"/>
              <a:t>localStorage</a:t>
            </a:r>
            <a:r>
              <a:rPr lang="ru-RU" dirty="0"/>
              <a:t> и </a:t>
            </a:r>
            <a:r>
              <a:rPr lang="ru-RU" dirty="0" err="1"/>
              <a:t>sessionStorage</a:t>
            </a:r>
            <a:r>
              <a:rPr lang="ru-RU" dirty="0"/>
              <a:t> предоставляют одинаковые методы и свойства:</a:t>
            </a:r>
          </a:p>
          <a:p>
            <a:pPr lvl="0"/>
            <a:r>
              <a:rPr lang="ru-RU" dirty="0" err="1"/>
              <a:t>setItem</a:t>
            </a:r>
            <a:r>
              <a:rPr lang="ru-RU" dirty="0"/>
              <a:t>(</a:t>
            </a:r>
            <a:r>
              <a:rPr lang="ru-RU" dirty="0" err="1"/>
              <a:t>key</a:t>
            </a:r>
            <a:r>
              <a:rPr lang="ru-RU" dirty="0"/>
              <a:t>, </a:t>
            </a:r>
            <a:r>
              <a:rPr lang="ru-RU" dirty="0" err="1"/>
              <a:t>value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getItem</a:t>
            </a:r>
            <a:r>
              <a:rPr lang="ru-RU" dirty="0"/>
              <a:t>(</a:t>
            </a:r>
            <a:r>
              <a:rPr lang="ru-RU" dirty="0" err="1"/>
              <a:t>key</a:t>
            </a:r>
            <a:r>
              <a:rPr lang="ru-RU" dirty="0"/>
              <a:t>) </a:t>
            </a:r>
          </a:p>
          <a:p>
            <a:pPr lvl="0"/>
            <a:r>
              <a:rPr lang="ru-RU" dirty="0" err="1"/>
              <a:t>removeItem</a:t>
            </a:r>
            <a:r>
              <a:rPr lang="ru-RU" dirty="0"/>
              <a:t>(</a:t>
            </a:r>
            <a:r>
              <a:rPr lang="ru-RU" dirty="0" err="1"/>
              <a:t>key</a:t>
            </a:r>
            <a:r>
              <a:rPr lang="ru-RU" dirty="0"/>
              <a:t>) </a:t>
            </a:r>
          </a:p>
          <a:p>
            <a:pPr lvl="0"/>
            <a:r>
              <a:rPr lang="ru-RU" dirty="0" err="1"/>
              <a:t>clear</a:t>
            </a:r>
            <a:r>
              <a:rPr lang="ru-RU" dirty="0"/>
              <a:t>() </a:t>
            </a:r>
          </a:p>
          <a:p>
            <a:pPr lvl="0"/>
            <a:r>
              <a:rPr lang="ru-RU" dirty="0" err="1"/>
              <a:t>key</a:t>
            </a:r>
            <a:r>
              <a:rPr lang="ru-RU" dirty="0"/>
              <a:t>(</a:t>
            </a:r>
            <a:r>
              <a:rPr lang="ru-RU" dirty="0" err="1"/>
              <a:t>index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length</a:t>
            </a:r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54AA6-85C3-485E-9FF2-D81D078FE786}"/>
              </a:ext>
            </a:extLst>
          </p:cNvPr>
          <p:cNvSpPr txBox="1"/>
          <p:nvPr/>
        </p:nvSpPr>
        <p:spPr>
          <a:xfrm>
            <a:off x="838200" y="1296491"/>
            <a:ext cx="9037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600" dirty="0"/>
              <a:t>позволяют хранить пары ключ/значение в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137060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1715F-70A1-E084-42AA-CD3A7F07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Сравнение с </a:t>
            </a:r>
            <a:r>
              <a:rPr lang="en-US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cookies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ABD171-71D4-78D2-0F32-20D6D014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dirty="0"/>
              <a:t>В отличие от куки, объекты веб-хранилища не отправляются на сервер при каждом запросе. Именно поэтому мы можем хранить гораздо больше данных. </a:t>
            </a:r>
          </a:p>
          <a:p>
            <a:pPr marL="0" lvl="0" indent="0">
              <a:buNone/>
            </a:pPr>
            <a:r>
              <a:rPr lang="ru-RU" dirty="0"/>
              <a:t>Ещё одно отличие – сервер не может манипулировать объектами хранилища через HTTP-заголовки. Всё делается при помощи JavaScript.</a:t>
            </a:r>
          </a:p>
          <a:p>
            <a:pPr marL="0" lvl="0" indent="0">
              <a:buNone/>
            </a:pPr>
            <a:r>
              <a:rPr lang="ru-RU" dirty="0"/>
              <a:t>Хранилище привязано к источнику (домен/протокол). Это значит, что разные протоколы или поддомены определяют разные объекты хранилища, и они не могут получить доступ к данным друг друга.</a:t>
            </a:r>
          </a:p>
        </p:txBody>
      </p:sp>
    </p:spTree>
    <p:extLst>
      <p:ext uri="{BB962C8B-B14F-4D97-AF65-F5344CB8AC3E}">
        <p14:creationId xmlns:p14="http://schemas.microsoft.com/office/powerpoint/2010/main" val="61029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36080-EA78-7CDB-782B-C2F59A10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localStorage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25AF74-C191-6E99-ED6D-EA3B08A7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8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создали в качестве альтернативы </a:t>
            </a:r>
            <a:r>
              <a:rPr lang="en-US" sz="2200" dirty="0"/>
              <a:t>c</a:t>
            </a:r>
            <a:r>
              <a:rPr lang="ru-RU" sz="2200" dirty="0" err="1"/>
              <a:t>ookie</a:t>
            </a:r>
            <a:r>
              <a:rPr lang="en-US" sz="2200" dirty="0"/>
              <a:t>s</a:t>
            </a:r>
            <a:r>
              <a:rPr lang="ru-RU" sz="2200" dirty="0"/>
              <a:t>, чтобы обойти ограничения последних. А именно — небольшой объем хранилища, необходимость постоянно передавать данные с сервера в браузер и обратно.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Например, если запустить этот код: </a:t>
            </a:r>
            <a:r>
              <a:rPr lang="ru-RU" sz="2200" dirty="0" err="1"/>
              <a:t>localStorage.setItem</a:t>
            </a:r>
            <a:r>
              <a:rPr lang="ru-RU" sz="2200" dirty="0"/>
              <a:t>('</a:t>
            </a:r>
            <a:r>
              <a:rPr lang="ru-RU" sz="2200" dirty="0" err="1"/>
              <a:t>test</a:t>
            </a:r>
            <a:r>
              <a:rPr lang="ru-RU" sz="2200" dirty="0"/>
              <a:t>', 1);</a:t>
            </a:r>
          </a:p>
          <a:p>
            <a:pPr marL="0" indent="0">
              <a:buNone/>
            </a:pPr>
            <a:r>
              <a:rPr lang="ru-RU" sz="2200" dirty="0"/>
              <a:t>И закрыть/открыть браузер или открыть ту же страницу в другом окне, то можно получить данные следующим образом: </a:t>
            </a:r>
            <a:r>
              <a:rPr lang="ru-RU" sz="2200" dirty="0" err="1"/>
              <a:t>alert</a:t>
            </a:r>
            <a:r>
              <a:rPr lang="ru-RU" sz="2200" dirty="0"/>
              <a:t>( </a:t>
            </a:r>
            <a:r>
              <a:rPr lang="ru-RU" sz="2200" dirty="0" err="1"/>
              <a:t>localStorage.getItem</a:t>
            </a:r>
            <a:r>
              <a:rPr lang="ru-RU" sz="2200" dirty="0"/>
              <a:t>('</a:t>
            </a:r>
            <a:r>
              <a:rPr lang="ru-RU" sz="2200" dirty="0" err="1"/>
              <a:t>test</a:t>
            </a:r>
            <a:r>
              <a:rPr lang="ru-RU" sz="2200" dirty="0"/>
              <a:t>') ); // 1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В локальном хранилище, в отличие от сеансового, данные сохраняются после закрытия и повторного открытия страницы.</a:t>
            </a:r>
          </a:p>
          <a:p>
            <a:pPr marL="0" indent="0">
              <a:buNone/>
            </a:pPr>
            <a:r>
              <a:rPr lang="ru-RU" sz="2200" dirty="0"/>
              <a:t>Поскольку данные не исчезают даже после выключения компьютера, сайты на длительный срок сохраняют нужную им информацию — в первую очередь это предпочтения пользователя и его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55443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F5273-2C05-C431-D04F-55D05878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 кода</a:t>
            </a:r>
            <a:r>
              <a:rPr lang="en-US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29E46-9016-2122-1C7C-4AAA0B8B8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// </a:t>
            </a:r>
            <a:r>
              <a:rPr lang="ru-RU" sz="7400" dirty="0">
                <a:solidFill>
                  <a:schemeClr val="accent1">
                    <a:lumMod val="50000"/>
                  </a:schemeClr>
                </a:solidFill>
              </a:rPr>
              <a:t>Сохраняем данные в </a:t>
            </a:r>
            <a:r>
              <a:rPr lang="en-US" sz="7400" dirty="0" err="1">
                <a:solidFill>
                  <a:schemeClr val="accent1">
                    <a:lumMod val="50000"/>
                  </a:schemeClr>
                </a:solidFill>
              </a:rPr>
              <a:t>localStorage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400" dirty="0" err="1">
                <a:solidFill>
                  <a:schemeClr val="accent1">
                    <a:lumMod val="50000"/>
                  </a:schemeClr>
                </a:solidFill>
              </a:rPr>
              <a:t>localStorage.setItem</a:t>
            </a: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("name", "Mathew");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400" dirty="0" err="1">
                <a:solidFill>
                  <a:schemeClr val="accent1">
                    <a:lumMod val="50000"/>
                  </a:schemeClr>
                </a:solidFill>
              </a:rPr>
              <a:t>localStorage.setItem</a:t>
            </a: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("age", "33");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// </a:t>
            </a:r>
            <a:r>
              <a:rPr lang="ru-RU" sz="7400" dirty="0">
                <a:solidFill>
                  <a:schemeClr val="accent1">
                    <a:lumMod val="50000"/>
                  </a:schemeClr>
                </a:solidFill>
              </a:rPr>
              <a:t>Извлекаем данные из </a:t>
            </a:r>
            <a:r>
              <a:rPr lang="en-US" sz="7400" dirty="0" err="1">
                <a:solidFill>
                  <a:schemeClr val="accent1">
                    <a:lumMod val="50000"/>
                  </a:schemeClr>
                </a:solidFill>
              </a:rPr>
              <a:t>localStorage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const name = </a:t>
            </a:r>
            <a:r>
              <a:rPr lang="en-US" sz="7400" dirty="0" err="1">
                <a:solidFill>
                  <a:schemeClr val="accent1">
                    <a:lumMod val="50000"/>
                  </a:schemeClr>
                </a:solidFill>
              </a:rPr>
              <a:t>localStorage.getItem</a:t>
            </a: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("name");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const age = </a:t>
            </a:r>
            <a:r>
              <a:rPr lang="en-US" sz="7400" dirty="0" err="1">
                <a:solidFill>
                  <a:schemeClr val="accent1">
                    <a:lumMod val="50000"/>
                  </a:schemeClr>
                </a:solidFill>
              </a:rPr>
              <a:t>localStorage.getItem</a:t>
            </a:r>
            <a:r>
              <a:rPr lang="en-US" sz="7400" dirty="0">
                <a:solidFill>
                  <a:schemeClr val="accent1">
                    <a:lumMod val="50000"/>
                  </a:schemeClr>
                </a:solidFill>
              </a:rPr>
              <a:t>("age");</a:t>
            </a:r>
            <a:endParaRPr lang="ru-RU" sz="7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DA919891-105D-45E2-A07B-19EBD5514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console.log(name); // Output: Mathew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console.log(age); // Output: 33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//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Удаляем данные из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localStorage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localStorage.removeItem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("age");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//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Удаляем ВСЕ данные из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localStorage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2400" dirty="0" err="1">
                <a:solidFill>
                  <a:schemeClr val="accent1">
                    <a:lumMod val="50000"/>
                  </a:schemeClr>
                </a:solidFill>
              </a:rPr>
              <a:t>localStorage.clear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60978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105AD-B089-08D8-3BB3-87098F94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sessionStorage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FAA306-FB7F-5E07-144B-7A348F55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Способ работы с данными </a:t>
            </a:r>
            <a:r>
              <a:rPr lang="en-US" dirty="0" err="1"/>
              <a:t>sessionStorage</a:t>
            </a:r>
            <a:r>
              <a:rPr lang="ru-RU" dirty="0"/>
              <a:t> во многом аналогичен </a:t>
            </a:r>
            <a:r>
              <a:rPr lang="en-US" dirty="0" err="1"/>
              <a:t>localStorage</a:t>
            </a:r>
            <a:r>
              <a:rPr lang="ru-RU" dirty="0"/>
              <a:t>, но есть принципиальное отличие — после закрытия браузера данные полностью удаляются.</a:t>
            </a:r>
          </a:p>
          <a:p>
            <a:pPr marL="0" indent="0">
              <a:buNone/>
            </a:pPr>
            <a:r>
              <a:rPr lang="ru-RU" dirty="0"/>
              <a:t>Идеален для хранения данных, актуальных в рамках конкретной сессии — например, информации при заполнении формы или вводе данных банковской карты.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Например</a:t>
            </a:r>
            <a:r>
              <a:rPr lang="en-US" dirty="0"/>
              <a:t>, </a:t>
            </a:r>
            <a:r>
              <a:rPr lang="ru-RU" dirty="0"/>
              <a:t>запустим код</a:t>
            </a:r>
            <a:r>
              <a:rPr lang="en-US" dirty="0"/>
              <a:t>: </a:t>
            </a:r>
            <a:r>
              <a:rPr lang="en-US" dirty="0" err="1"/>
              <a:t>sessionStorage.setItem</a:t>
            </a:r>
            <a:r>
              <a:rPr lang="en-US" dirty="0"/>
              <a:t>('test', 1);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 обновим страницу</a:t>
            </a:r>
            <a:r>
              <a:rPr lang="en-US" dirty="0"/>
              <a:t>: alert( </a:t>
            </a:r>
            <a:r>
              <a:rPr lang="en-US" dirty="0" err="1"/>
              <a:t>sessionStorage.getItem</a:t>
            </a:r>
            <a:r>
              <a:rPr lang="en-US" dirty="0"/>
              <a:t>('test') ); // 1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Мы все еще можем получить данные. </a:t>
            </a:r>
          </a:p>
          <a:p>
            <a:pPr marL="0" indent="0">
              <a:buNone/>
            </a:pPr>
            <a:r>
              <a:rPr lang="ru-RU" dirty="0"/>
              <a:t>Но если мы откроем ту же страницу в другой вкладке и попробуем получить данные снова, то код вернёт </a:t>
            </a:r>
            <a:r>
              <a:rPr lang="ru-RU" dirty="0" err="1"/>
              <a:t>null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27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73B8E-756D-FD7C-E09D-EA188DB2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 кода: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6D4A09-038F-238A-7982-F24CD6C98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//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Storing data in session storage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sessionStorage.setItem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("name", "Mathew");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sessionStorage.setItem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("age", "33");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// Retrieving data from session storage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const name =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sessionStorage.getItem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("name");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const age =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sessionStorage.getItem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("age");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27CDBF-BB7A-4171-A335-E513D34D1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console.log(name); // Output: Mathew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console.log(age); // Output: 33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// Removing data from session storage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sessionStorage.removeItem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("age");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// Clearing all data from session storage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sessionStorage.clear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();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418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A3F48-AF75-ED2B-797D-28309311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Событие </a:t>
            </a:r>
            <a:r>
              <a:rPr lang="en-US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storage</a:t>
            </a:r>
            <a:endParaRPr lang="ru-RU" b="1" dirty="0">
              <a:ln w="22225">
                <a:solidFill>
                  <a:srgbClr val="7030A0"/>
                </a:solidFill>
                <a:prstDash val="solid"/>
              </a:ln>
              <a:solidFill>
                <a:srgbClr val="2FCEF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2B9A2B-5701-1EE5-4A87-5652875C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Срабатывает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вызове</a:t>
            </a:r>
            <a:r>
              <a:rPr lang="en-US" dirty="0"/>
              <a:t> </a:t>
            </a:r>
            <a:r>
              <a:rPr lang="en-US" dirty="0" err="1"/>
              <a:t>setItem</a:t>
            </a:r>
            <a:r>
              <a:rPr lang="en-US" dirty="0"/>
              <a:t>, </a:t>
            </a:r>
            <a:r>
              <a:rPr lang="en-US" dirty="0" err="1"/>
              <a:t>removeItem</a:t>
            </a:r>
            <a:r>
              <a:rPr lang="en-US" dirty="0"/>
              <a:t>, clear.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Когда обновляются данные в </a:t>
            </a:r>
            <a:r>
              <a:rPr lang="ru-RU" dirty="0" err="1"/>
              <a:t>localStorage</a:t>
            </a:r>
            <a:r>
              <a:rPr lang="ru-RU" dirty="0"/>
              <a:t> или </a:t>
            </a:r>
            <a:r>
              <a:rPr lang="ru-RU" dirty="0" err="1"/>
              <a:t>sessionStorage</a:t>
            </a:r>
            <a:r>
              <a:rPr lang="ru-RU" dirty="0"/>
              <a:t>, генерируется событие </a:t>
            </a:r>
            <a:r>
              <a:rPr lang="ru-RU" dirty="0" err="1"/>
              <a:t>storage</a:t>
            </a:r>
            <a:r>
              <a:rPr lang="ru-RU" dirty="0"/>
              <a:t> со следующими свойствами:</a:t>
            </a:r>
          </a:p>
          <a:p>
            <a:r>
              <a:rPr lang="ru-RU" dirty="0" err="1"/>
              <a:t>key</a:t>
            </a:r>
            <a:r>
              <a:rPr lang="ru-RU" dirty="0"/>
              <a:t> </a:t>
            </a:r>
          </a:p>
          <a:p>
            <a:r>
              <a:rPr lang="ru-RU" dirty="0" err="1"/>
              <a:t>oldValue</a:t>
            </a:r>
            <a:r>
              <a:rPr lang="ru-RU" dirty="0"/>
              <a:t> </a:t>
            </a:r>
          </a:p>
          <a:p>
            <a:r>
              <a:rPr lang="ru-RU" dirty="0" err="1"/>
              <a:t>newValue</a:t>
            </a:r>
            <a:r>
              <a:rPr lang="ru-RU" dirty="0"/>
              <a:t> </a:t>
            </a:r>
          </a:p>
          <a:p>
            <a:r>
              <a:rPr lang="ru-RU" dirty="0" err="1"/>
              <a:t>url</a:t>
            </a:r>
            <a:r>
              <a:rPr lang="ru-RU" dirty="0"/>
              <a:t> </a:t>
            </a:r>
          </a:p>
          <a:p>
            <a:r>
              <a:rPr lang="ru-RU" dirty="0" err="1"/>
              <a:t>storageArea</a:t>
            </a:r>
            <a:endParaRPr lang="ru-RU" dirty="0"/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Событие </a:t>
            </a:r>
            <a:r>
              <a:rPr lang="en-US" dirty="0"/>
              <a:t>c</a:t>
            </a:r>
            <a:r>
              <a:rPr lang="ru-RU" dirty="0" err="1"/>
              <a:t>рабатывает</a:t>
            </a:r>
            <a:r>
              <a:rPr lang="ru-RU" dirty="0"/>
              <a:t> на всех объектах </a:t>
            </a:r>
            <a:r>
              <a:rPr lang="ru-RU" dirty="0" err="1"/>
              <a:t>window</a:t>
            </a:r>
            <a:r>
              <a:rPr lang="ru-RU" dirty="0"/>
              <a:t>, которые имеют доступ к хранилищу, кроме того, где оно было сгенерировано.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45427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00AB9-CA4A-8642-D9C9-1222BC89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 кода: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F42C5-55B5-1661-B88F-0F1F8BFD5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Допустим, есть два окна с одним и тем же сайтом. Хранилище </a:t>
            </a:r>
            <a:r>
              <a:rPr lang="ru-RU" dirty="0" err="1"/>
              <a:t>localStorage</a:t>
            </a:r>
            <a:r>
              <a:rPr lang="ru-RU" dirty="0"/>
              <a:t> разделяется между ними.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Теперь, если оба окна слушают </a:t>
            </a:r>
            <a:r>
              <a:rPr lang="ru-RU" dirty="0" err="1"/>
              <a:t>window.onstorage</a:t>
            </a:r>
            <a:r>
              <a:rPr lang="ru-RU" dirty="0"/>
              <a:t>, то каждое из них будет реагировать на обновления, произошедшие в другом окне.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72A4B-4622-4BD0-B3E2-DF7422AFB4F9}"/>
              </a:ext>
            </a:extLst>
          </p:cNvPr>
          <p:cNvSpPr txBox="1"/>
          <p:nvPr/>
        </p:nvSpPr>
        <p:spPr>
          <a:xfrm>
            <a:off x="838200" y="2624019"/>
            <a:ext cx="10144760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// Срабатывает при обновлениях, сделанных в том же хранилище из других документов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window.onstorage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= event =&gt; { // </a:t>
            </a:r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можно также использовать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window.addEventListener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('storage', event =&gt; {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 if (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event.key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!= 'now') return;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 alert(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event.key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+ ':' +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event.newValue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+ " at " + event.url);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};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localStorage.setItem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('now',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Date.now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());</a:t>
            </a:r>
            <a:endParaRPr lang="ru-RU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17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55992-8DEA-4BA6-0F04-C3723D26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Безопасность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A8E5F3-FC46-D7BA-E8F1-DB4D70210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Все хранилища потенциально уязвимы для </a:t>
            </a:r>
            <a:r>
              <a:rPr lang="ru-RU" dirty="0" err="1"/>
              <a:t>XSS</a:t>
            </a:r>
            <a:r>
              <a:rPr lang="ru-RU" dirty="0"/>
              <a:t>-атак.</a:t>
            </a:r>
          </a:p>
          <a:p>
            <a:pPr marL="0" indent="0">
              <a:buNone/>
            </a:pPr>
            <a:r>
              <a:rPr lang="ru-RU" dirty="0"/>
              <a:t>В </a:t>
            </a:r>
            <a:r>
              <a:rPr lang="ru-RU" dirty="0" err="1"/>
              <a:t>localStorage</a:t>
            </a:r>
            <a:r>
              <a:rPr lang="ru-RU" dirty="0"/>
              <a:t> для обеспечения безопасности важно соблюдать принцип одного источника и тоже пользоваться зашифрованными HTTPS-соединениями.</a:t>
            </a:r>
          </a:p>
        </p:txBody>
      </p:sp>
    </p:spTree>
    <p:extLst>
      <p:ext uri="{BB962C8B-B14F-4D97-AF65-F5344CB8AC3E}">
        <p14:creationId xmlns:p14="http://schemas.microsoft.com/office/powerpoint/2010/main" val="114336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DEE79-1DDC-5B47-5724-FFD6944E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4665D6-38B9-F61E-0A50-4B5F6CCB2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После появления пятой версии HTML (2017 г.) </a:t>
            </a:r>
            <a:r>
              <a:rPr lang="ru-RU" dirty="0" err="1"/>
              <a:t>localStorage</a:t>
            </a:r>
            <a:r>
              <a:rPr lang="ru-RU" dirty="0"/>
              <a:t> становится более востребованным элементом при разработке веб-приложений.</a:t>
            </a:r>
          </a:p>
          <a:p>
            <a:pPr marL="0" indent="0">
              <a:buNone/>
            </a:pPr>
            <a:r>
              <a:rPr lang="ru-RU" dirty="0"/>
              <a:t>При этом инструмент поддерживает синхронизацию данных, когда пользователь открывает приложение в разных вкладках (через событие </a:t>
            </a:r>
            <a:r>
              <a:rPr lang="en-US" dirty="0"/>
              <a:t>storage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66526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A0DCF-70B5-93CB-280A-9D35345C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Практическая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9AF366-FEB0-E8C3-79EC-C8C64A20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локальной </a:t>
            </a:r>
            <a:r>
              <a:rPr lang="en-US" dirty="0"/>
              <a:t>HTML</a:t>
            </a:r>
            <a:r>
              <a:rPr lang="ru-RU" dirty="0"/>
              <a:t>-странице сохранить настройку или имя пользователя, перезагрузить страницу и сравнить поведение </a:t>
            </a:r>
            <a:r>
              <a:rPr lang="en-US" dirty="0" err="1"/>
              <a:t>localStorage</a:t>
            </a:r>
            <a:r>
              <a:rPr lang="ru-RU" dirty="0"/>
              <a:t> и </a:t>
            </a:r>
            <a:r>
              <a:rPr lang="en-US" dirty="0" err="1"/>
              <a:t>sessionStorage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Результат: при перезагрузки страницы, мы можем получить данные из обоих хранилищ; при перезагрузки браузера, мы данные сохраняются только в </a:t>
            </a:r>
            <a:r>
              <a:rPr lang="en-US" dirty="0" err="1"/>
              <a:t>localStorage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3674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9A415-DAED-7670-CA06-7CF0A928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n w="22225">
                  <a:solidFill>
                    <a:srgbClr val="7030A0"/>
                  </a:solidFill>
                  <a:prstDash val="solid"/>
                </a:ln>
                <a:solidFill>
                  <a:srgbClr val="2FCE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Список использованных ресурсов: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E1AF85-0468-792B-D008-E310FFC14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425"/>
            <a:ext cx="10515600" cy="4351338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hlinkClick r:id="rId2"/>
              </a:rPr>
              <a:t>https</a:t>
            </a:r>
            <a:r>
              <a:rPr lang="ru-RU" u="sng" dirty="0">
                <a:hlinkClick r:id="rId2"/>
              </a:rPr>
              <a:t>://</a:t>
            </a:r>
            <a:r>
              <a:rPr lang="en-US" u="sng" dirty="0">
                <a:hlinkClick r:id="rId2"/>
              </a:rPr>
              <a:t>learn</a:t>
            </a:r>
            <a:r>
              <a:rPr lang="ru-RU" u="sng" dirty="0">
                <a:hlinkClick r:id="rId2"/>
              </a:rPr>
              <a:t>.</a:t>
            </a:r>
            <a:r>
              <a:rPr lang="en-US" u="sng" dirty="0" err="1">
                <a:hlinkClick r:id="rId2"/>
              </a:rPr>
              <a:t>javascript</a:t>
            </a:r>
            <a:r>
              <a:rPr lang="ru-RU" u="sng" dirty="0">
                <a:hlinkClick r:id="rId2"/>
              </a:rPr>
              <a:t>.</a:t>
            </a:r>
            <a:r>
              <a:rPr lang="en-US" u="sng" dirty="0" err="1">
                <a:hlinkClick r:id="rId2"/>
              </a:rPr>
              <a:t>ru</a:t>
            </a:r>
            <a:r>
              <a:rPr lang="ru-RU" u="sng" dirty="0">
                <a:hlinkClick r:id="rId2"/>
              </a:rPr>
              <a:t>/</a:t>
            </a:r>
            <a:r>
              <a:rPr lang="en-US" u="sng" dirty="0" err="1">
                <a:hlinkClick r:id="rId2"/>
              </a:rPr>
              <a:t>localstorage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hlinkClick r:id="rId3"/>
              </a:rPr>
              <a:t>https</a:t>
            </a:r>
            <a:r>
              <a:rPr lang="ru-RU" u="sng" dirty="0">
                <a:hlinkClick r:id="rId3"/>
              </a:rPr>
              <a:t>://</a:t>
            </a:r>
            <a:r>
              <a:rPr lang="en-US" u="sng" dirty="0" err="1">
                <a:hlinkClick r:id="rId3"/>
              </a:rPr>
              <a:t>tproger</a:t>
            </a:r>
            <a:r>
              <a:rPr lang="ru-RU" u="sng" dirty="0">
                <a:hlinkClick r:id="rId3"/>
              </a:rPr>
              <a:t>.</a:t>
            </a:r>
            <a:r>
              <a:rPr lang="en-US" u="sng" dirty="0" err="1">
                <a:hlinkClick r:id="rId3"/>
              </a:rPr>
              <a:t>ru</a:t>
            </a:r>
            <a:r>
              <a:rPr lang="ru-RU" u="sng" dirty="0">
                <a:hlinkClick r:id="rId3"/>
              </a:rPr>
              <a:t>/</a:t>
            </a:r>
            <a:r>
              <a:rPr lang="en-US" u="sng" dirty="0">
                <a:hlinkClick r:id="rId3"/>
              </a:rPr>
              <a:t>articles</a:t>
            </a:r>
            <a:r>
              <a:rPr lang="ru-RU" u="sng" dirty="0">
                <a:hlinkClick r:id="rId3"/>
              </a:rPr>
              <a:t>/</a:t>
            </a:r>
            <a:r>
              <a:rPr lang="en-US" u="sng" dirty="0" err="1">
                <a:hlinkClick r:id="rId3"/>
              </a:rPr>
              <a:t>chto</a:t>
            </a:r>
            <a:r>
              <a:rPr lang="ru-RU" u="sng" dirty="0">
                <a:hlinkClick r:id="rId3"/>
              </a:rPr>
              <a:t>-</a:t>
            </a:r>
            <a:r>
              <a:rPr lang="en-US" u="sng" dirty="0" err="1">
                <a:hlinkClick r:id="rId3"/>
              </a:rPr>
              <a:t>takoe</a:t>
            </a:r>
            <a:r>
              <a:rPr lang="ru-RU" u="sng" dirty="0">
                <a:hlinkClick r:id="rId3"/>
              </a:rPr>
              <a:t>-</a:t>
            </a:r>
            <a:r>
              <a:rPr lang="en-US" u="sng" dirty="0">
                <a:hlinkClick r:id="rId3"/>
              </a:rPr>
              <a:t>cookies</a:t>
            </a:r>
            <a:r>
              <a:rPr lang="ru-RU" u="sng" dirty="0">
                <a:hlinkClick r:id="rId3"/>
              </a:rPr>
              <a:t>--</a:t>
            </a:r>
            <a:r>
              <a:rPr lang="en-US" u="sng" dirty="0" err="1">
                <a:hlinkClick r:id="rId3"/>
              </a:rPr>
              <a:t>localstorage</a:t>
            </a:r>
            <a:r>
              <a:rPr lang="ru-RU" u="sng" dirty="0">
                <a:hlinkClick r:id="rId3"/>
              </a:rPr>
              <a:t>-</a:t>
            </a:r>
            <a:r>
              <a:rPr lang="en-US" u="sng" dirty="0" err="1">
                <a:hlinkClick r:id="rId3"/>
              </a:rPr>
              <a:t>i</a:t>
            </a:r>
            <a:r>
              <a:rPr lang="ru-RU" u="sng" dirty="0">
                <a:hlinkClick r:id="rId3"/>
              </a:rPr>
              <a:t>-</a:t>
            </a:r>
            <a:r>
              <a:rPr lang="en-US" u="sng" dirty="0" err="1">
                <a:hlinkClick r:id="rId3"/>
              </a:rPr>
              <a:t>sessionstorage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94662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965</Words>
  <Application>Microsoft Office PowerPoint</Application>
  <PresentationFormat>Широкоэкранный</PresentationFormat>
  <Paragraphs>116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Тема Office</vt:lpstr>
      <vt:lpstr>localStorage и sessionStorage</vt:lpstr>
      <vt:lpstr>Введение</vt:lpstr>
      <vt:lpstr>Cookies</vt:lpstr>
      <vt:lpstr>Объекты localStorage и sessionStorage</vt:lpstr>
      <vt:lpstr>Сравнение с cookies</vt:lpstr>
      <vt:lpstr>localStorage</vt:lpstr>
      <vt:lpstr>Пример кода:</vt:lpstr>
      <vt:lpstr>sessionStorage</vt:lpstr>
      <vt:lpstr>Пример кода: </vt:lpstr>
      <vt:lpstr>Событие storage</vt:lpstr>
      <vt:lpstr>Пример кода:</vt:lpstr>
      <vt:lpstr>Безопасность</vt:lpstr>
      <vt:lpstr>Итог</vt:lpstr>
      <vt:lpstr>Практическая часть</vt:lpstr>
      <vt:lpstr>Список использованных ресурсов: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localStorage и sessionStorage</dc:title>
  <dc:creator>Arina Berdieva</dc:creator>
  <cp:lastModifiedBy>Lenovo</cp:lastModifiedBy>
  <cp:revision>16</cp:revision>
  <dcterms:created xsi:type="dcterms:W3CDTF">2026-09-28T11:12:43Z</dcterms:created>
  <dcterms:modified xsi:type="dcterms:W3CDTF">2026-10-08T14:09:32Z</dcterms:modified>
</cp:coreProperties>
</file>